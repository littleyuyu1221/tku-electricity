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e41bb20a154dcf" /><Relationship Type="http://schemas.openxmlformats.org/officeDocument/2006/relationships/extended-properties" Target="/docProps/app.xml" Id="R682542c219214c1d" /><Relationship Type="http://schemas.openxmlformats.org/officeDocument/2006/relationships/officeDocument" Target="/ppt/presentation.xml" Id="R1818ea48a92e41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3994b312254d68"/>
  </p:sldMasterIdLst>
  <p:notesMasterIdLst>
    <p:notesMasterId xmlns:r="http://schemas.openxmlformats.org/officeDocument/2006/relationships" r:id="R412fb8ba438449b0"/>
  </p:notesMasterIdLst>
  <p:sldIdLst>
    <p:sldId xmlns:r="http://schemas.openxmlformats.org/officeDocument/2006/relationships" id="256" r:id="R3cb4d549de3f49e4"/>
    <p:sldId xmlns:r="http://schemas.openxmlformats.org/officeDocument/2006/relationships" id="257" r:id="R595fde09f79644f1"/>
    <p:sldId xmlns:r="http://schemas.openxmlformats.org/officeDocument/2006/relationships" id="258" r:id="Rd00e074ee1594d39"/>
    <p:sldId xmlns:r="http://schemas.openxmlformats.org/officeDocument/2006/relationships" id="259" r:id="R5f807c93fc614ce9"/>
    <p:sldId xmlns:r="http://schemas.openxmlformats.org/officeDocument/2006/relationships" id="260" r:id="R5830d256f5c148d3"/>
    <p:sldId xmlns:r="http://schemas.openxmlformats.org/officeDocument/2006/relationships" id="261" r:id="Rbbe919931528431a"/>
    <p:sldId xmlns:r="http://schemas.openxmlformats.org/officeDocument/2006/relationships" id="262" r:id="R0e796cf06fe14c9f"/>
    <p:sldId xmlns:r="http://schemas.openxmlformats.org/officeDocument/2006/relationships" id="263" r:id="Rd2a70292dc814117"/>
    <p:sldId xmlns:r="http://schemas.openxmlformats.org/officeDocument/2006/relationships" id="264" r:id="R3e8d4d1bff554d84"/>
    <p:sldId xmlns:r="http://schemas.openxmlformats.org/officeDocument/2006/relationships" id="265" r:id="Rcd7c9b079ca5434f"/>
    <p:sldId xmlns:r="http://schemas.openxmlformats.org/officeDocument/2006/relationships" id="266" r:id="R75e1a9dc3c814265"/>
    <p:sldId xmlns:r="http://schemas.openxmlformats.org/officeDocument/2006/relationships" id="267" r:id="R9a51c787378749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7e38330848440b" /><Relationship Type="http://schemas.openxmlformats.org/officeDocument/2006/relationships/slideMaster" Target="/ppt/slideMasters/slideMaster1.xml" Id="R4b3994b312254d68" /><Relationship Type="http://schemas.openxmlformats.org/officeDocument/2006/relationships/notesMaster" Target="/ppt/notesMasters/notesMaster1.xml" Id="R412fb8ba438449b0" /><Relationship Type="http://schemas.openxmlformats.org/officeDocument/2006/relationships/presProps" Target="/ppt/presProps.xml" Id="R8e49fc706aa2430c" /><Relationship Type="http://schemas.openxmlformats.org/officeDocument/2006/relationships/tableStyles" Target="/ppt/tableStyles.xml" Id="R2eac080f01a84420" /><Relationship Type="http://schemas.openxmlformats.org/officeDocument/2006/relationships/slide" Target="/ppt/slides/slide1.xml" Id="R3cb4d549de3f49e4" /><Relationship Type="http://schemas.openxmlformats.org/officeDocument/2006/relationships/slide" Target="/ppt/slides/slide2.xml" Id="R595fde09f79644f1" /><Relationship Type="http://schemas.openxmlformats.org/officeDocument/2006/relationships/slide" Target="/ppt/slides/slide3.xml" Id="Rd00e074ee1594d39" /><Relationship Type="http://schemas.openxmlformats.org/officeDocument/2006/relationships/slide" Target="/ppt/slides/slide4.xml" Id="R5f807c93fc614ce9" /><Relationship Type="http://schemas.openxmlformats.org/officeDocument/2006/relationships/slide" Target="/ppt/slides/slide5.xml" Id="R5830d256f5c148d3" /><Relationship Type="http://schemas.openxmlformats.org/officeDocument/2006/relationships/slide" Target="/ppt/slides/slide6.xml" Id="Rbbe919931528431a" /><Relationship Type="http://schemas.openxmlformats.org/officeDocument/2006/relationships/slide" Target="/ppt/slides/slide7.xml" Id="R0e796cf06fe14c9f" /><Relationship Type="http://schemas.openxmlformats.org/officeDocument/2006/relationships/slide" Target="/ppt/slides/slide8.xml" Id="Rd2a70292dc814117" /><Relationship Type="http://schemas.openxmlformats.org/officeDocument/2006/relationships/slide" Target="/ppt/slides/slide9.xml" Id="R3e8d4d1bff554d84" /><Relationship Type="http://schemas.openxmlformats.org/officeDocument/2006/relationships/slide" Target="/ppt/slides/slide10.xml" Id="Rcd7c9b079ca5434f" /><Relationship Type="http://schemas.openxmlformats.org/officeDocument/2006/relationships/slide" Target="/ppt/slides/slide11.xml" Id="R75e1a9dc3c814265" /><Relationship Type="http://schemas.openxmlformats.org/officeDocument/2006/relationships/slide" Target="/ppt/slides/slide12.xml" Id="R9a51c787378749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df230fb9794f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1d61e3f6c148bd" /><Relationship Type="http://schemas.openxmlformats.org/officeDocument/2006/relationships/notesMaster" Target="/ppt/notesMasters/notesMaster1.xml" Id="R11c413c20b3740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3b8d81a82c4b8b" /><Relationship Type="http://schemas.openxmlformats.org/officeDocument/2006/relationships/notesMaster" Target="/ppt/notesMasters/notesMaster1.xml" Id="R8c189119769442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b18755755847af" /><Relationship Type="http://schemas.openxmlformats.org/officeDocument/2006/relationships/notesMaster" Target="/ppt/notesMasters/notesMaster1.xml" Id="Rbd3c8593d91b4a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0da4d312e54ed5" /><Relationship Type="http://schemas.openxmlformats.org/officeDocument/2006/relationships/notesMaster" Target="/ppt/notesMasters/notesMaster1.xml" Id="R51aa29d60d714f8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66877c6b25480b" /><Relationship Type="http://schemas.openxmlformats.org/officeDocument/2006/relationships/notesMaster" Target="/ppt/notesMasters/notesMaster1.xml" Id="Ra4aff4fc922b4c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3f4581ee7746f2" /><Relationship Type="http://schemas.openxmlformats.org/officeDocument/2006/relationships/notesMaster" Target="/ppt/notesMasters/notesMaster1.xml" Id="Rccbb23854a9843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15d7f6ea69a4149" /><Relationship Type="http://schemas.openxmlformats.org/officeDocument/2006/relationships/notesMaster" Target="/ppt/notesMasters/notesMaster1.xml" Id="R8bfd9f2fd4aa46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b5b85be5874ab5" /><Relationship Type="http://schemas.openxmlformats.org/officeDocument/2006/relationships/notesMaster" Target="/ppt/notesMasters/notesMaster1.xml" Id="R7545fc4534414e6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cd18527d514ad2" /><Relationship Type="http://schemas.openxmlformats.org/officeDocument/2006/relationships/notesMaster" Target="/ppt/notesMasters/notesMaster1.xml" Id="R448345d76e484a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cd4a6e45d340ac" /><Relationship Type="http://schemas.openxmlformats.org/officeDocument/2006/relationships/notesMaster" Target="/ppt/notesMasters/notesMaster1.xml" Id="R580b4b2719b145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24738a64c704db7" /><Relationship Type="http://schemas.openxmlformats.org/officeDocument/2006/relationships/notesMaster" Target="/ppt/notesMasters/notesMaster1.xml" Id="R3501678c911343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b58f0d274f4b3f" /><Relationship Type="http://schemas.openxmlformats.org/officeDocument/2006/relationships/notesMaster" Target="/ppt/notesMasters/notesMaster1.xml" Id="R7e9a81fc6b1b43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先用一句話說明：本專題把用電、住宿、氣候與冷氣維護資料整合成可操作的決策系統。再補上自己的系所、姓名、學號與指導教授。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本專題 GitHub：https://github.com/Littleyuyu1221/tku-electricity</a:t>
            </a:r>
          </a:p>
          <a:p xmlns:a="http://schemas.openxmlformats.org/drawingml/2006/main">
            <a:r>
              <a:t>- 線上系統：https://tku-electricity-1229.streamlit.app/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先說管理上的痛點，再說本專題不是只做圖表，而是把資料檢核、模型驗證與設備維護串起來。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1 章與第 3 章</a:t>
            </a:r>
          </a:p>
          <a:p xmlns:a="http://schemas.openxmlformats.org/drawingml/2006/main">
            <a:r>
              <a:t>- outputs/app.py，資料檢核與六個功能頁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把三個問題依序講成：先了解原因，再驗證預測，最後轉成設備管理行動。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1.3 節研究問題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用這張圖說明資料流，不必逐行解釋程式。強調所有結果都先通過格式與合理性檢查。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outputs/app.py，read_upload、資料檢核、build_energy_model、estimate_ac_operation</a:t>
            </a:r>
          </a:p>
          <a:p xmlns:a="http://schemas.openxmlformats.org/drawingml/2006/main">
            <a:r>
              <a:t>- outputs/宿舍用電與冷氣資料蒐集範本.xlsx，品質檢核工作表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說明最低需要月用電、住宿、開館與氣溫；冷氣清冊和事件紀錄是把展示模型變成正式研究模型的關鍵。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outputs/宿舍用電與冷氣資料蒐集範本.xlsx</a:t>
            </a:r>
          </a:p>
          <a:p xmlns:a="http://schemas.openxmlformats.org/drawingml/2006/main">
            <a:r>
              <a:t>- outputs/資料蒐集與驗收清單.md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這張圖只用來示範系統如何辨識學期與低住宿月份。明確說出資料是內建示範值，不能當成淡江宿舍實際用電。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outputs/宿舍用電資料範本.csv，2024 年 12 個月示範資料</a:t>
            </a:r>
          </a:p>
          <a:p xmlns:a="http://schemas.openxmlformats.org/drawingml/2006/main">
            <a:r>
              <a:t>- outputs/app.py，快速看懂用電頁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先說所有指標都來自留一法，不是訓練分數。再解釋 62.3% 是相對於同樣留一切分的其餘月份平均值。最後提醒只有 10 個有效月份。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outputs/app.py，build_energy_model</a:t>
            </a:r>
          </a:p>
          <a:p xmlns:a="http://schemas.openxmlformats.org/drawingml/2006/main">
            <a:r>
              <a:t>- outputs/宿舍用電資料範本.csv</a:t>
            </a:r>
          </a:p>
          <a:p xmlns:a="http://schemas.openxmlformats.org/drawingml/2006/main">
            <a:r>
              <a:t>- Hoerl &amp; Kennard (1970)：https://doi.org/10.1080/00401706.1970.10488634</a:t>
            </a:r>
          </a:p>
          <a:p xmlns:a="http://schemas.openxmlformats.org/drawingml/2006/main">
            <a:r>
              <a:t>- scikit-learn LeaveOneOut：https://scikit-learn.org/stable/modules/generated/sklearn.model_selection.LeaveOneOut.html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說明耗電公式會考慮台數、功率、部分負載、溫差、時段使用率與天數。故障率是工程比例風險情境，正式研究必須用校內故障標籤重新校準。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outputs/app.py，estimate_ac_operation 與 classify_ac_risk</a:t>
            </a:r>
          </a:p>
          <a:p xmlns:a="http://schemas.openxmlformats.org/drawingml/2006/main">
            <a:r>
              <a:t>- outputs/宿舍用電與冷氣資料蒐集範本.xlsx，冷氣設備清冊</a:t>
            </a:r>
          </a:p>
          <a:p xmlns:a="http://schemas.openxmlformats.org/drawingml/2006/main">
            <a:r>
              <a:t>- Cox (1972)：https://doi.org/10.1111/j.2517-6161.1972.tb00899.x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展示網站時依序點過四個核心輸出即可，不必逐一解釋所有圖表。冷氣頁最後展示設備清冊批次排名。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線上系統：https://tku-electricity-1229.streamlit.app/</a:t>
            </a:r>
          </a:p>
          <a:p xmlns:a="http://schemas.openxmlformats.org/drawingml/2006/main">
            <a:r>
              <a:t>- outputs/app.py，六個功能頁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這張是口試的重要防守頁。主動說明限制，反而能證明你理解模型有效性與研究倫理。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7 章與第 8 章</a:t>
            </a:r>
          </a:p>
          <a:p xmlns:a="http://schemas.openxmlformats.org/drawingml/2006/main">
            <a:r>
              <a:t>- outputs/資料蒐集與驗收清單.md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若老師問下一步，不要回答再加圖表；回答先取得正式資料、用時間切分驗證，再讓機電人員檢查高風險設備名單。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outputs/資料蒐集與驗收清單.md，建議專題時程</a:t>
            </a:r>
          </a:p>
          <a:p xmlns:a="http://schemas.openxmlformats.org/drawingml/2006/main">
            <a:r>
              <a:t>- outputs/大四專題報告.docx，第 8.2 節未來工作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最後重申貢獻不是某個單一分數，而是建立一條可重複、可驗證、能轉成管理行動的資料流程。接著進入問答。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outputs/大四專題報告.docx，第 8.1 節結論</a:t>
            </a:r>
          </a:p>
          <a:p xmlns:a="http://schemas.openxmlformats.org/drawingml/2006/main">
            <a:r>
              <a:t>- 線上系統：https://tku-electricity-1229.streamlit.app/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056954ed444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2b8b48e7e24f94" /><Relationship Type="http://schemas.openxmlformats.org/officeDocument/2006/relationships/slideLayout" Target="/ppt/slideLayouts/slideLayout1.xml" Id="R64a99e7dc33549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a99e7dc33549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9be9d11cf4a3d" /><Relationship Type="http://schemas.openxmlformats.org/officeDocument/2006/relationships/notesSlide" Target="/ppt/notesSlides/notesSlide1.xml" Id="R7b3102ff8e414a4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7fb2f076f4bc7" /><Relationship Type="http://schemas.openxmlformats.org/officeDocument/2006/relationships/notesSlide" Target="/ppt/notesSlides/notesSlide2.xml" Id="R8d857fad1f2946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bceacdc38451d" /><Relationship Type="http://schemas.openxmlformats.org/officeDocument/2006/relationships/notesSlide" Target="/ppt/notesSlides/notesSlide3.xml" Id="Rc72c58233e904e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28cfbfeb14b94" /><Relationship Type="http://schemas.openxmlformats.org/officeDocument/2006/relationships/notesSlide" Target="/ppt/notesSlides/notesSlide4.xml" Id="R65ca31e79b1b4a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6c8a7cbc14f6a" /><Relationship Type="http://schemas.openxmlformats.org/officeDocument/2006/relationships/notesSlide" Target="/ppt/notesSlides/notesSlide5.xml" Id="R45f1bfc22b344a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c536a45b7b4b78" /><Relationship Type="http://schemas.openxmlformats.org/officeDocument/2006/relationships/chart" Target="/ppt/slides/charts/chart1.xml" Id="R5937ad12c6e043ba" /><Relationship Type="http://schemas.openxmlformats.org/officeDocument/2006/relationships/notesSlide" Target="/ppt/notesSlides/notesSlide6.xml" Id="R8c6f2d0f69444a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91a81d63b432a" /><Relationship Type="http://schemas.openxmlformats.org/officeDocument/2006/relationships/chart" Target="/ppt/slides/charts/chart2.xml" Id="R5adabeb07e414dee" /><Relationship Type="http://schemas.openxmlformats.org/officeDocument/2006/relationships/notesSlide" Target="/ppt/notesSlides/notesSlide7.xml" Id="Rba98aa8ec2104b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5bde1e852484f" /><Relationship Type="http://schemas.openxmlformats.org/officeDocument/2006/relationships/chart" Target="/ppt/slides/charts/chart3.xml" Id="R81885550242e45e0" /><Relationship Type="http://schemas.openxmlformats.org/officeDocument/2006/relationships/notesSlide" Target="/ppt/notesSlides/notesSlide8.xml" Id="R9f1cfdc8fd3744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b11f743fd429d" /><Relationship Type="http://schemas.openxmlformats.org/officeDocument/2006/relationships/notesSlide" Target="/ppt/notesSlides/notesSlide9.xml" Id="R570edc63885949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5434ff9ef74aff" /><Relationship Type="http://schemas.openxmlformats.org/officeDocument/2006/relationships/notesSlide" Target="/ppt/notesSlides/notesSlide10.xml" Id="Rc22e3839c6ab43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dae053bcb4638" /><Relationship Type="http://schemas.openxmlformats.org/officeDocument/2006/relationships/notesSlide" Target="/ppt/notesSlides/notesSlide11.xml" Id="R039c28703ff945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da0db1ea74c9a" /><Relationship Type="http://schemas.openxmlformats.org/officeDocument/2006/relationships/notesSlide" Target="/ppt/notesSlides/notesSlide12.xml" Id="R62b84c67455c41a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總用電</c:v>
          </c:tx>
          <c:spPr>
            <a:solidFill xmlns:a="http://schemas.openxmlformats.org/drawingml/2006/main">
              <a:srgbClr val="0757A6"/>
            </a:solidFill>
          </c:spPr>
          <c:cat>
            <c:numLit>
              <c:formatCode>General</c:formatCode>
              <c:ptCount val="12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  <c:pt idx="8">
                <c:v>9</c:v>
              </c:pt>
              <c:pt idx="9">
                <c:v>10</c:v>
              </c:pt>
              <c:pt idx="10">
                <c:v>11</c:v>
              </c:pt>
              <c:pt idx="11">
                <c:v>12</c:v>
              </c:pt>
            </c:numLit>
          </c:cat>
          <c:val>
            <c:numLit>
              <c:formatCode>#,##0</c:formatCode>
              <c:ptCount val="12"/>
              <c:pt idx="0">
                <c:v>19521</c:v>
              </c:pt>
              <c:pt idx="1">
                <c:v>17634</c:v>
              </c:pt>
              <c:pt idx="2">
                <c:v>45606</c:v>
              </c:pt>
              <c:pt idx="3">
                <c:v>42192</c:v>
              </c:pt>
              <c:pt idx="4">
                <c:v>50989</c:v>
              </c:pt>
              <c:pt idx="5">
                <c:v>41913</c:v>
              </c:pt>
              <c:pt idx="6">
                <c:v>4682</c:v>
              </c:pt>
              <c:pt idx="7">
                <c:v>5681</c:v>
              </c:pt>
              <c:pt idx="8">
                <c:v>48200</c:v>
              </c:pt>
              <c:pt idx="9">
                <c:v>46000</c:v>
              </c:pt>
              <c:pt idx="10">
                <c:v>44000</c:v>
              </c:pt>
              <c:pt idx="11">
                <c:v>49000</c:v>
              </c:pt>
            </c:numLit>
          </c:val>
        </c:ser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月份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6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用電量（kWh）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10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實際</c:v>
          </c:tx>
          <c:spPr>
            <a:ln xmlns:a="http://schemas.openxmlformats.org/drawingml/2006/main" w="38100">
              <a:solidFill>
                <a:srgbClr val="0757A6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0757A6"/>
              </a:solidFill>
            </c:spPr>
          </c:marker>
          <c:cat>
            <c:numLit>
              <c:formatCode>General</c:formatCode>
              <c:ptCount val="10"/>
              <c:pt idx="0">
                <c:v>01</c:v>
              </c:pt>
              <c:pt idx="1">
                <c:v>02</c:v>
              </c:pt>
              <c:pt idx="2">
                <c:v>03</c:v>
              </c:pt>
              <c:pt idx="3">
                <c:v>04</c:v>
              </c:pt>
              <c:pt idx="4">
                <c:v>05</c:v>
              </c:pt>
              <c:pt idx="5">
                <c:v>06</c:v>
              </c:pt>
              <c:pt idx="6">
                <c:v>09</c:v>
              </c:pt>
              <c:pt idx="7">
                <c:v>10</c:v>
              </c:pt>
              <c:pt idx="8">
                <c:v>11</c:v>
              </c:pt>
              <c:pt idx="9">
                <c:v>12</c:v>
              </c:pt>
            </c:numLit>
          </c:cat>
          <c:val>
            <c:numLit>
              <c:formatCode>#,##0</c:formatCode>
              <c:ptCount val="10"/>
              <c:pt idx="0">
                <c:v>19521</c:v>
              </c:pt>
              <c:pt idx="1">
                <c:v>17634</c:v>
              </c:pt>
              <c:pt idx="2">
                <c:v>45606</c:v>
              </c:pt>
              <c:pt idx="3">
                <c:v>42192</c:v>
              </c:pt>
              <c:pt idx="4">
                <c:v>50989</c:v>
              </c:pt>
              <c:pt idx="5">
                <c:v>41913</c:v>
              </c:pt>
              <c:pt idx="6">
                <c:v>48200</c:v>
              </c:pt>
              <c:pt idx="7">
                <c:v>46000</c:v>
              </c:pt>
              <c:pt idx="8">
                <c:v>44000</c:v>
              </c:pt>
              <c:pt idx="9">
                <c:v>49000</c:v>
              </c:pt>
            </c:numLit>
          </c:val>
        </c:ser>
        <c:ser>
          <c:idx val="1"/>
          <c:order val="1"/>
          <c:tx>
            <c:v>留一法預測</c:v>
          </c:tx>
          <c:spPr>
            <a:ln xmlns:a="http://schemas.openxmlformats.org/drawingml/2006/main" w="28575">
              <a:solidFill>
                <a:srgbClr val="D76800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D76800"/>
              </a:solidFill>
            </c:spPr>
          </c:marker>
          <c:cat>
            <c:numLit>
              <c:formatCode>General</c:formatCode>
              <c:ptCount val="10"/>
              <c:pt idx="0">
                <c:v>01</c:v>
              </c:pt>
              <c:pt idx="1">
                <c:v>02</c:v>
              </c:pt>
              <c:pt idx="2">
                <c:v>03</c:v>
              </c:pt>
              <c:pt idx="3">
                <c:v>04</c:v>
              </c:pt>
              <c:pt idx="4">
                <c:v>05</c:v>
              </c:pt>
              <c:pt idx="5">
                <c:v>06</c:v>
              </c:pt>
              <c:pt idx="6">
                <c:v>09</c:v>
              </c:pt>
              <c:pt idx="7">
                <c:v>10</c:v>
              </c:pt>
              <c:pt idx="8">
                <c:v>11</c:v>
              </c:pt>
              <c:pt idx="9">
                <c:v>12</c:v>
              </c:pt>
            </c:numLit>
          </c:cat>
          <c:val>
            <c:numLit>
              <c:formatCode>#,##0</c:formatCode>
              <c:ptCount val="10"/>
              <c:pt idx="0">
                <c:v>31827</c:v>
              </c:pt>
              <c:pt idx="1">
                <c:v>16114</c:v>
              </c:pt>
              <c:pt idx="2">
                <c:v>45362</c:v>
              </c:pt>
              <c:pt idx="3">
                <c:v>44274</c:v>
              </c:pt>
              <c:pt idx="4">
                <c:v>47446</c:v>
              </c:pt>
              <c:pt idx="5">
                <c:v>45932</c:v>
              </c:pt>
              <c:pt idx="6">
                <c:v>42803</c:v>
              </c:pt>
              <c:pt idx="7">
                <c:v>48614</c:v>
              </c:pt>
              <c:pt idx="8">
                <c:v>43534</c:v>
              </c:pt>
              <c:pt idx="9">
                <c:v>44457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月份（2024）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6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用電量（kWh）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10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11111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月耗電</c:v>
          </c:tx>
          <c:spPr>
            <a:solidFill xmlns:a="http://schemas.openxmlformats.org/drawingml/2006/main">
              <a:srgbClr val="0757A6"/>
            </a:solidFill>
          </c:spPr>
          <c:cat>
            <c:strLit>
              <c:ptCount val="4"/>
              <c:pt idx="0">
                <c:v>00–06</c:v>
              </c:pt>
              <c:pt idx="1">
                <c:v>06–12</c:v>
              </c:pt>
              <c:pt idx="2">
                <c:v>12–18</c:v>
              </c:pt>
              <c:pt idx="3">
                <c:v>18–24</c:v>
              </c:pt>
            </c:strLit>
          </c:cat>
          <c:val>
            <c:numLit>
              <c:formatCode>#,##0</c:formatCode>
              <c:ptCount val="4"/>
              <c:pt idx="0">
                <c:v>1514</c:v>
              </c:pt>
              <c:pt idx="1">
                <c:v>433</c:v>
              </c:pt>
              <c:pt idx="2">
                <c:v>1552</c:v>
              </c:pt>
              <c:pt idx="3">
                <c:v>1838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111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22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月耗電（kWh）</a:t>
                </a:r>
              </a:p>
            </c:rich>
          </c:tx>
          <c:overlay val="0"/>
        </c:title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5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F03ACB04-CBE8-44D9-B29D-EC6450564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淡江大學｜大四專題口試</a:t>
            </a:r>
          </a:p>
        </p:txBody>
      </p:sp>
      <p:sp>
        <p:nvSpPr>
          <p:cNvPr id="2" name="cover-year">
            <a:extLst xmlns:a="http://schemas.openxmlformats.org/drawingml/2006/main">
              <a:ext uri="{FF2B5EF4-FFF2-40B4-BE49-F238E27FC236}">
                <a16:creationId xmlns:a16="http://schemas.microsoft.com/office/drawing/2014/main" id="{018E47E3-B0A5-498E-AC06-43CC4DD5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0525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2026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D0CD481-A7F3-4ECE-9647-93D6919E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10668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校園宿舍用電分析、預測與</a:t>
            </a:r>
          </a:p>
          <a:p xmlns:a="http://schemas.openxmlformats.org/drawingml/2006/main">
            <a:pPr algn="l">
              <a:def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冷氣故障風險系統</a:t>
            </a:r>
          </a:p>
        </p:txBody>
      </p:sp>
      <p:sp>
        <p:nvSpPr>
          <p:cNvPr id="4" name="cover-meta">
            <a:extLst xmlns:a="http://schemas.openxmlformats.org/drawingml/2006/main">
              <a:ext uri="{FF2B5EF4-FFF2-40B4-BE49-F238E27FC236}">
                <a16:creationId xmlns:a16="http://schemas.microsoft.com/office/drawing/2014/main" id="{C78BA342-D793-4F9C-80B9-46E23095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10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學生：＿＿＿＿＿＿　指導教授：＿＿＿＿＿＿</a:t>
            </a:r>
          </a:p>
        </p:txBody>
      </p:sp>
    </p:spTree>
    <p:extLst>
      <p:ext uri="{BB962C8B-B14F-4D97-AF65-F5344CB8AC3E}">
        <p14:creationId xmlns:p14="http://schemas.microsoft.com/office/powerpoint/2010/main" val="17676399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1306DEEC-13BF-4B9C-80F4-91476B06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宿舍用電不能只看帳單總額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83FBCB24-7380-4086-BF75-8B45DAFA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85A4E4D4-780D-4131-ACC7-6B529843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同樣的月用電，可能來自住宿人數增加、開館時間變長、氣溫升高，或設備效率下降；若沒有把資料放在一起，管理者無法判斷原因。</a:t>
            </a:r>
          </a:p>
        </p:txBody>
      </p:sp>
      <p:sp>
        <p:nvSpPr>
          <p:cNvPr id="4" name="problem-panel">
            <a:extLst xmlns:a="http://schemas.openxmlformats.org/drawingml/2006/main">
              <a:ext uri="{FF2B5EF4-FFF2-40B4-BE49-F238E27FC236}">
                <a16:creationId xmlns:a16="http://schemas.microsoft.com/office/drawing/2014/main" id="{CCF37A4E-749E-4815-87B7-5B83F409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5524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lution-panel">
            <a:extLst xmlns:a="http://schemas.openxmlformats.org/drawingml/2006/main">
              <a:ext uri="{FF2B5EF4-FFF2-40B4-BE49-F238E27FC236}">
                <a16:creationId xmlns:a16="http://schemas.microsoft.com/office/drawing/2014/main" id="{78DCDAC4-2CA8-4B2C-BF09-5103BC55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524500" cy="14478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6" name="problem-panel-title">
            <a:extLst xmlns:a="http://schemas.openxmlformats.org/drawingml/2006/main">
              <a:ext uri="{FF2B5EF4-FFF2-40B4-BE49-F238E27FC236}">
                <a16:creationId xmlns:a16="http://schemas.microsoft.com/office/drawing/2014/main" id="{6B644D45-88EE-466F-A807-BDEB7440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24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現在的困難</a:t>
            </a:r>
          </a:p>
        </p:txBody>
      </p:sp>
      <p:sp>
        <p:nvSpPr>
          <p:cNvPr id="7" name="solution-panel-title">
            <a:extLst xmlns:a="http://schemas.openxmlformats.org/drawingml/2006/main">
              <a:ext uri="{FF2B5EF4-FFF2-40B4-BE49-F238E27FC236}">
                <a16:creationId xmlns:a16="http://schemas.microsoft.com/office/drawing/2014/main" id="{C999F552-8B60-4242-BFE8-936DFA44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35242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本專題的解法</a:t>
            </a:r>
          </a:p>
        </p:txBody>
      </p:sp>
      <p:sp>
        <p:nvSpPr>
          <p:cNvPr id="8" name="problem-details">
            <a:extLst xmlns:a="http://schemas.openxmlformats.org/drawingml/2006/main">
              <a:ext uri="{FF2B5EF4-FFF2-40B4-BE49-F238E27FC236}">
                <a16:creationId xmlns:a16="http://schemas.microsoft.com/office/drawing/2014/main" id="{7DF98D3B-B85E-486B-855A-A85E0BCD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分散的月資料缺少共同時間軸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總量無法直接說明使用效率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維修紀錄難以轉成保養優先順序</a:t>
            </a:r>
          </a:p>
        </p:txBody>
      </p:sp>
      <p:sp>
        <p:nvSpPr>
          <p:cNvPr id="9" name="solution-details">
            <a:extLst xmlns:a="http://schemas.openxmlformats.org/drawingml/2006/main">
              <a:ext uri="{FF2B5EF4-FFF2-40B4-BE49-F238E27FC236}">
                <a16:creationId xmlns:a16="http://schemas.microsoft.com/office/drawing/2014/main" id="{C9FACC1D-73B3-4088-A4F9-5DB307C8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05375"/>
            <a:ext cx="5143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以年月整合用電、住宿與氣候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用交叉驗證呈現預測誤差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批次估算冷氣耗電與故障風險</a:t>
            </a:r>
          </a:p>
        </p:txBody>
      </p:sp>
    </p:spTree>
    <p:extLst>
      <p:ext uri="{BB962C8B-B14F-4D97-AF65-F5344CB8AC3E}">
        <p14:creationId xmlns:p14="http://schemas.microsoft.com/office/powerpoint/2010/main" val="17532447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FAEFE6B4-F103-41CD-A042-DAC24999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三個問題把用電、預測與維護串成一條研究線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C28AF058-0BFD-4E43-8BD2-A9417924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question-number-1">
            <a:extLst xmlns:a="http://schemas.openxmlformats.org/drawingml/2006/main">
              <a:ext uri="{FF2B5EF4-FFF2-40B4-BE49-F238E27FC236}">
                <a16:creationId xmlns:a16="http://schemas.microsoft.com/office/drawing/2014/main" id="{374F923A-1131-4160-BD9A-18011BB2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question-title-1">
            <a:extLst xmlns:a="http://schemas.openxmlformats.org/drawingml/2006/main">
              <a:ext uri="{FF2B5EF4-FFF2-40B4-BE49-F238E27FC236}">
                <a16:creationId xmlns:a16="http://schemas.microsoft.com/office/drawing/2014/main" id="{89055A3A-6014-4938-883F-40287B2B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哪些條件影響用電？</a:t>
            </a:r>
          </a:p>
        </p:txBody>
      </p:sp>
      <p:sp>
        <p:nvSpPr>
          <p:cNvPr id="5" name="question-body-1">
            <a:extLst xmlns:a="http://schemas.openxmlformats.org/drawingml/2006/main">
              <a:ext uri="{FF2B5EF4-FFF2-40B4-BE49-F238E27FC236}">
                <a16:creationId xmlns:a16="http://schemas.microsoft.com/office/drawing/2014/main" id="{7E8A94B9-8673-4DD9-91EF-2B3633A9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比較住宿人日、冷房度日、開館天數與總用電的關係。</a:t>
            </a:r>
          </a:p>
        </p:txBody>
      </p:sp>
      <p:sp>
        <p:nvSpPr>
          <p:cNvPr id="6" name="question-number-2">
            <a:extLst xmlns:a="http://schemas.openxmlformats.org/drawingml/2006/main">
              <a:ext uri="{FF2B5EF4-FFF2-40B4-BE49-F238E27FC236}">
                <a16:creationId xmlns:a16="http://schemas.microsoft.com/office/drawing/2014/main" id="{DE22C14A-7D6F-40C1-954D-5CC36B96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question-title-2">
            <a:extLst xmlns:a="http://schemas.openxmlformats.org/drawingml/2006/main">
              <a:ext uri="{FF2B5EF4-FFF2-40B4-BE49-F238E27FC236}">
                <a16:creationId xmlns:a16="http://schemas.microsoft.com/office/drawing/2014/main" id="{0EB9629B-C978-49D0-B7F7-6F085F1C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模型能否預測未見月份？</a:t>
            </a:r>
          </a:p>
        </p:txBody>
      </p:sp>
      <p:sp>
        <p:nvSpPr>
          <p:cNvPr id="8" name="question-body-2">
            <a:extLst xmlns:a="http://schemas.openxmlformats.org/drawingml/2006/main">
              <a:ext uri="{FF2B5EF4-FFF2-40B4-BE49-F238E27FC236}">
                <a16:creationId xmlns:a16="http://schemas.microsoft.com/office/drawing/2014/main" id="{A8095F9E-B298-45D6-A62B-FE76590D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用 Ridge 迴歸與留一法，報告 R²、MAE、RMSE、MAPE 與基準改善率。</a:t>
            </a:r>
          </a:p>
        </p:txBody>
      </p:sp>
      <p:sp>
        <p:nvSpPr>
          <p:cNvPr id="9" name="question-number-3">
            <a:extLst xmlns:a="http://schemas.openxmlformats.org/drawingml/2006/main">
              <a:ext uri="{FF2B5EF4-FFF2-40B4-BE49-F238E27FC236}">
                <a16:creationId xmlns:a16="http://schemas.microsoft.com/office/drawing/2014/main" id="{BFEDDC9B-B50D-42CA-9D7A-1FC29BE6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71625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450" b="1">
                <a:solidFill>
                  <a:srgbClr val="B8BCC4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question-title-3">
            <a:extLst xmlns:a="http://schemas.openxmlformats.org/drawingml/2006/main">
              <a:ext uri="{FF2B5EF4-FFF2-40B4-BE49-F238E27FC236}">
                <a16:creationId xmlns:a16="http://schemas.microsoft.com/office/drawing/2014/main" id="{021DBD52-3931-4F72-99B5-4C813E6B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38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哪些冷氣應優先處理？</a:t>
            </a:r>
          </a:p>
        </p:txBody>
      </p:sp>
      <p:sp>
        <p:nvSpPr>
          <p:cNvPr id="11" name="question-body-3">
            <a:extLst xmlns:a="http://schemas.openxmlformats.org/drawingml/2006/main">
              <a:ext uri="{FF2B5EF4-FFF2-40B4-BE49-F238E27FC236}">
                <a16:creationId xmlns:a16="http://schemas.microsoft.com/office/drawing/2014/main" id="{A6A79B3D-E57E-4122-AC90-28799B45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8625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依機型、機齡、負載、保養與故障紀錄，產生耗電與風險排序。</a:t>
            </a:r>
          </a:p>
        </p:txBody>
      </p:sp>
    </p:spTree>
    <p:extLst>
      <p:ext uri="{BB962C8B-B14F-4D97-AF65-F5344CB8AC3E}">
        <p14:creationId xmlns:p14="http://schemas.microsoft.com/office/powerpoint/2010/main" val="12403587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C306923B-EB1A-4D60-B03A-466C3286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資料先被檢核，再進入兩條可解釋的模型路徑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A89313A3-A783-41F5-A9EA-82848F02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architecture-lead">
            <a:extLst xmlns:a="http://schemas.openxmlformats.org/drawingml/2006/main">
              <a:ext uri="{FF2B5EF4-FFF2-40B4-BE49-F238E27FC236}">
                <a16:creationId xmlns:a16="http://schemas.microsoft.com/office/drawing/2014/main" id="{82D5D13A-4807-46FA-8840-F7C17820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月資料用來分析總用電與下月預測；設備清冊則用來估算分時冷氣耗電與維護風險。兩條路徑共享資料品質規則與下載結果。</a:t>
            </a:r>
          </a:p>
        </p:txBody>
      </p:sp>
      <p:sp>
        <p:nvSpPr>
          <p:cNvPr id="4" name="architecture-points">
            <a:extLst xmlns:a="http://schemas.openxmlformats.org/drawingml/2006/main">
              <a:ext uri="{FF2B5EF4-FFF2-40B4-BE49-F238E27FC236}">
                <a16:creationId xmlns:a16="http://schemas.microsoft.com/office/drawing/2014/main" id="{8EAB318D-F861-4B83-923C-F4A05F66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年月排序與範圍檢核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人日、冷房度日等衍生欄位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模型指標、參考範圍與外插提醒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圖表、CSV 與完整工作簿下載</a:t>
            </a:r>
          </a:p>
        </p:txBody>
      </p:sp>
      <p:sp>
        <p:nvSpPr>
          <p:cNvPr id="5" name="architecture-field">
            <a:extLst xmlns:a="http://schemas.openxmlformats.org/drawingml/2006/main">
              <a:ext uri="{FF2B5EF4-FFF2-40B4-BE49-F238E27FC236}">
                <a16:creationId xmlns:a16="http://schemas.microsoft.com/office/drawing/2014/main" id="{5B46B6FD-099B-4DCA-AD8E-4D1F60C1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123950"/>
            <a:ext cx="5524500" cy="4876800"/>
          </a:xfrm>
          <a:prstGeom xmlns:a="http://schemas.openxmlformats.org/drawingml/2006/main" prst="roundRect">
            <a:avLst>
              <a:gd name="adj" fmla="val 15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cxnSp>
        <p:nvCxnSpPr>
          <p:cNvPr id="25" name="architecture-connector-1"/>
          <p:cNvCxnSpPr/>
          <p:nvPr/>
        </p:nvCxnSpPr>
        <p:spPr>
          <a:xfrm xmlns:a="http://schemas.openxmlformats.org/drawingml/2006/main">
            <a:off x="9029700" y="19812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6" name="architecture-connector-2"/>
          <p:cNvCxnSpPr/>
          <p:nvPr/>
        </p:nvCxnSpPr>
        <p:spPr>
          <a:xfrm xmlns:a="http://schemas.openxmlformats.org/drawingml/2006/main">
            <a:off x="9029700" y="2876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7" name="architecture-connector-3"/>
          <p:cNvCxnSpPr/>
          <p:nvPr/>
        </p:nvCxnSpPr>
        <p:spPr>
          <a:xfrm xmlns:a="http://schemas.openxmlformats.org/drawingml/2006/main">
            <a:off x="9029700" y="377190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cxnSp>
        <p:nvCxnSpPr>
          <p:cNvPr id="28" name="architecture-connector-4"/>
          <p:cNvCxnSpPr/>
          <p:nvPr/>
        </p:nvCxnSpPr>
        <p:spPr>
          <a:xfrm xmlns:a="http://schemas.openxmlformats.org/drawingml/2006/main">
            <a:off x="9029700" y="46672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757A6"/>
            </a:solidFill>
            <a:prstDash val="solid"/>
          </a:ln>
        </p:spPr>
      </p:cxnSp>
      <p:sp>
        <p:nvSpPr>
          <p:cNvPr id="10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C6AF2667-DF80-424C-99CE-7667F36B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3525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architecture-node-text-1">
            <a:extLst xmlns:a="http://schemas.openxmlformats.org/drawingml/2006/main">
              <a:ext uri="{FF2B5EF4-FFF2-40B4-BE49-F238E27FC236}">
                <a16:creationId xmlns:a16="http://schemas.microsoft.com/office/drawing/2014/main" id="{F3F1B29C-22BD-42B9-B4CC-3C2F46F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049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Excel／CSV 原始資料</a:t>
            </a:r>
          </a:p>
        </p:txBody>
      </p:sp>
      <p:sp>
        <p:nvSpPr>
          <p:cNvPr id="12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2C603B0A-B011-4425-8109-E80D9FD8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4790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architecture-node-text-2">
            <a:extLst xmlns:a="http://schemas.openxmlformats.org/drawingml/2006/main">
              <a:ext uri="{FF2B5EF4-FFF2-40B4-BE49-F238E27FC236}">
                <a16:creationId xmlns:a16="http://schemas.microsoft.com/office/drawing/2014/main" id="{9E3898D7-B512-413B-8390-D4BB1640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003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欄位、空值與關係檢核</a:t>
            </a:r>
          </a:p>
        </p:txBody>
      </p:sp>
      <p:sp>
        <p:nvSpPr>
          <p:cNvPr id="14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D2EA49A5-5A2F-42B6-90DA-89B1D683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1432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architecture-node-text-3">
            <a:extLst xmlns:a="http://schemas.openxmlformats.org/drawingml/2006/main">
              <a:ext uri="{FF2B5EF4-FFF2-40B4-BE49-F238E27FC236}">
                <a16:creationId xmlns:a16="http://schemas.microsoft.com/office/drawing/2014/main" id="{C39332AF-7A35-4016-8D05-FD111536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956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人日與冷房度日</a:t>
            </a:r>
          </a:p>
        </p:txBody>
      </p:sp>
      <p:sp>
        <p:nvSpPr>
          <p:cNvPr id="16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F36DFB7F-BE1D-4488-ADEF-4D88F0DD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D8E9FF"/>
          </a:solidFill>
          <a:ln xmlns:a="http://schemas.openxmlformats.org/drawingml/2006/main" w="9525">
            <a:solidFill>
              <a:srgbClr val="0757A6"/>
            </a:solidFill>
            <a:prstDash val="solid"/>
          </a:ln>
        </p:spPr>
      </p:sp>
      <p:sp>
        <p:nvSpPr>
          <p:cNvPr id="17" name="architecture-node-text-4">
            <a:extLst xmlns:a="http://schemas.openxmlformats.org/drawingml/2006/main">
              <a:ext uri="{FF2B5EF4-FFF2-40B4-BE49-F238E27FC236}">
                <a16:creationId xmlns:a16="http://schemas.microsoft.com/office/drawing/2014/main" id="{6E4B34EE-60F7-49CD-80CE-A465055F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9100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Ridge／冷氣比例風險模型</a:t>
            </a:r>
          </a:p>
        </p:txBody>
      </p:sp>
      <p:sp>
        <p:nvSpPr>
          <p:cNvPr id="18" name="architecture-node-5">
            <a:extLst xmlns:a="http://schemas.openxmlformats.org/drawingml/2006/main">
              <a:ext uri="{FF2B5EF4-FFF2-40B4-BE49-F238E27FC236}">
                <a16:creationId xmlns:a16="http://schemas.microsoft.com/office/drawing/2014/main" id="{168862EE-6919-4CB3-9DA5-DD0EBE08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33950"/>
            <a:ext cx="457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architecture-node-text-5">
            <a:extLst xmlns:a="http://schemas.openxmlformats.org/drawingml/2006/main">
              <a:ext uri="{FF2B5EF4-FFF2-40B4-BE49-F238E27FC236}">
                <a16:creationId xmlns:a16="http://schemas.microsoft.com/office/drawing/2014/main" id="{531D27BD-C794-436B-BED1-A45DBC790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86350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趨勢、預測與維護排序</a:t>
            </a:r>
          </a:p>
        </p:txBody>
      </p:sp>
    </p:spTree>
    <p:extLst>
      <p:ext uri="{BB962C8B-B14F-4D97-AF65-F5344CB8AC3E}">
        <p14:creationId xmlns:p14="http://schemas.microsoft.com/office/powerpoint/2010/main" val="170277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E8476EC-E4B7-4EEB-B444-08693343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資料設計同時支援分析、模型與後續稽核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37893B15-3FE5-4ECE-9C5C-E2AC484C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data-table-lead">
            <a:extLst xmlns:a="http://schemas.openxmlformats.org/drawingml/2006/main">
              <a:ext uri="{FF2B5EF4-FFF2-40B4-BE49-F238E27FC236}">
                <a16:creationId xmlns:a16="http://schemas.microsoft.com/office/drawing/2014/main" id="{979C9E09-722B-48A1-846B-E4256FFD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每列資料都必須有清楚的時間、單位與用途；完整工作簿另含資料字典、選單與品質檢核。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400050" y="2095500"/>
          <a:ext xmlns:a="http://schemas.openxmlformats.org/drawingml/2006/main" cx="11391900" cy="3905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3143250"/>
                <a:gridCol w="1428750"/>
                <a:gridCol w="2571750"/>
                <a:gridCol w="2819400"/>
              </a:tblGrid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資料類型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代表欄位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單位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主要檢核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研究用途</a:t>
                      </a:r>
                    </a:p>
                  </a:txBody>
                  <a:tcPr marL="91440" marR="91440" marT="45720" marB="45720">
                    <a:solidFill>
                      <a:srgbClr val="0757A6"/>
                    </a:solidFill>
                  </a:tcPr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年份、月份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年月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同年月不可重複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跨年度排序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總用電、熱水用電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kWh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非負且熱水≤總量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趨勢／用途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住宿人數、住宿天數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人／天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天數≤開館天數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住宿人日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營運氣候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開館天數、平均溫度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天／°C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合理範圍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冷房度日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冷氣清冊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機型、功率、台數、機齡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kW／台／年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型號與範圍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耗電／風險</a:t>
                      </a:r>
                    </a:p>
                  </a:txBody>
                  <a:tcPr marL="91440" marR="91440" marT="45720" marB="45720"/>
                </a:tc>
              </a:tr>
              <a:tr h="557893"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維護事件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保養、巡檢、故障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日期／類別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事件與設備 ID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>
                          <a:solidFill>
                            <a:srgbClr val="11111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重新校準模型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1885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8C637152-C915-45FA-9FFD-E632F632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示範年度呈現明顯的學期與寒暑假落差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C96C30B4-E293-4DB6-9A52-EE352FAE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00050" y="1381125"/>
          <a:ext xmlns:a="http://schemas.openxmlformats.org/drawingml/2006/main" cx="5143500" cy="4667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37ad12c6e043ba"/>
          </a:graphicData>
        </a:graphic>
      </p:graphicFrame>
      <p:sp>
        <p:nvSpPr>
          <p:cNvPr id="4" name="monthly-card-1">
            <a:extLst xmlns:a="http://schemas.openxmlformats.org/drawingml/2006/main">
              <a:ext uri="{FF2B5EF4-FFF2-40B4-BE49-F238E27FC236}">
                <a16:creationId xmlns:a16="http://schemas.microsoft.com/office/drawing/2014/main" id="{72078CD0-F4C6-4843-A9D2-642FC110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335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5" name="monthly-stat-1">
            <a:extLst xmlns:a="http://schemas.openxmlformats.org/drawingml/2006/main">
              <a:ext uri="{FF2B5EF4-FFF2-40B4-BE49-F238E27FC236}">
                <a16:creationId xmlns:a16="http://schemas.microsoft.com/office/drawing/2014/main" id="{68314A80-6988-4528-A148-DB558C3A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621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415,418 kWh</a:t>
            </a:r>
          </a:p>
        </p:txBody>
      </p:sp>
      <p:sp>
        <p:nvSpPr>
          <p:cNvPr id="6" name="monthly-label-1">
            <a:extLst xmlns:a="http://schemas.openxmlformats.org/drawingml/2006/main">
              <a:ext uri="{FF2B5EF4-FFF2-40B4-BE49-F238E27FC236}">
                <a16:creationId xmlns:a16="http://schemas.microsoft.com/office/drawing/2014/main" id="{178A4461-2B7F-4171-A17F-33E77EE1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12 個月示範總量</a:t>
            </a:r>
          </a:p>
        </p:txBody>
      </p:sp>
      <p:sp>
        <p:nvSpPr>
          <p:cNvPr id="7" name="monthly-card-2">
            <a:extLst xmlns:a="http://schemas.openxmlformats.org/drawingml/2006/main">
              <a:ext uri="{FF2B5EF4-FFF2-40B4-BE49-F238E27FC236}">
                <a16:creationId xmlns:a16="http://schemas.microsoft.com/office/drawing/2014/main" id="{CC33D826-5810-4AE4-A87B-00C8A14F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718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nthly-stat-2">
            <a:extLst xmlns:a="http://schemas.openxmlformats.org/drawingml/2006/main">
              <a:ext uri="{FF2B5EF4-FFF2-40B4-BE49-F238E27FC236}">
                <a16:creationId xmlns:a16="http://schemas.microsoft.com/office/drawing/2014/main" id="{79702E66-532B-4FBA-A624-02607D00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50,989 kWh</a:t>
            </a:r>
          </a:p>
        </p:txBody>
      </p:sp>
      <p:sp>
        <p:nvSpPr>
          <p:cNvPr id="9" name="monthly-label-2">
            <a:extLst xmlns:a="http://schemas.openxmlformats.org/drawingml/2006/main">
              <a:ext uri="{FF2B5EF4-FFF2-40B4-BE49-F238E27FC236}">
                <a16:creationId xmlns:a16="http://schemas.microsoft.com/office/drawing/2014/main" id="{6E81CED1-C12B-431B-9792-F5E63D8C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5 月最高</a:t>
            </a:r>
          </a:p>
        </p:txBody>
      </p:sp>
      <p:sp>
        <p:nvSpPr>
          <p:cNvPr id="10" name="monthly-card-3">
            <a:extLst xmlns:a="http://schemas.openxmlformats.org/drawingml/2006/main">
              <a:ext uri="{FF2B5EF4-FFF2-40B4-BE49-F238E27FC236}">
                <a16:creationId xmlns:a16="http://schemas.microsoft.com/office/drawing/2014/main" id="{0505DBAA-1AC4-4DFB-A2E1-E8A32417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5524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onthly-stat-3">
            <a:extLst xmlns:a="http://schemas.openxmlformats.org/drawingml/2006/main">
              <a:ext uri="{FF2B5EF4-FFF2-40B4-BE49-F238E27FC236}">
                <a16:creationId xmlns:a16="http://schemas.microsoft.com/office/drawing/2014/main" id="{8ED2DB25-8CB1-40AC-8770-2E86B790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387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4,682 kWh</a:t>
            </a:r>
          </a:p>
        </p:txBody>
      </p:sp>
      <p:sp>
        <p:nvSpPr>
          <p:cNvPr id="12" name="monthly-label-3">
            <a:extLst xmlns:a="http://schemas.openxmlformats.org/drawingml/2006/main">
              <a:ext uri="{FF2B5EF4-FFF2-40B4-BE49-F238E27FC236}">
                <a16:creationId xmlns:a16="http://schemas.microsoft.com/office/drawing/2014/main" id="{CC203AB2-BB1D-4BEC-97CA-09637272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29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7 月最低</a:t>
            </a:r>
          </a:p>
        </p:txBody>
      </p:sp>
      <p:sp>
        <p:nvSpPr>
          <p:cNvPr id="13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B4CDB677-C70A-4EC8-B441-FA724A8E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3130457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11903549-BC51-4392-ADF8-E8189354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Ridge 在留一法中優於月平均基準，但樣本仍小</a:t>
            </a:r>
          </a:p>
        </p:txBody>
      </p:sp>
      <p:sp>
        <p:nvSpPr>
          <p:cNvPr id="2" name="slide-7-number">
            <a:extLst xmlns:a="http://schemas.openxmlformats.org/drawingml/2006/main">
              <a:ext uri="{FF2B5EF4-FFF2-40B4-BE49-F238E27FC236}">
                <a16:creationId xmlns:a16="http://schemas.microsoft.com/office/drawing/2014/main" id="{134D8420-0FE4-48BF-9D3A-98A70969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400050" y="1381125"/>
          <a:ext xmlns:a="http://schemas.openxmlformats.org/drawingml/2006/main" cx="5524500" cy="4667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dabeb07e414dee"/>
          </a:graphicData>
        </a:graphic>
      </p:graphicFrame>
      <p:sp>
        <p:nvSpPr>
          <p:cNvPr id="4" name="ridge-summary">
            <a:extLst xmlns:a="http://schemas.openxmlformats.org/drawingml/2006/main">
              <a:ext uri="{FF2B5EF4-FFF2-40B4-BE49-F238E27FC236}">
                <a16:creationId xmlns:a16="http://schemas.microsoft.com/office/drawing/2014/main" id="{5565A3D9-61BE-4E31-87AF-96461214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19250"/>
            <a:ext cx="5524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10 個有住宿月份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MAE 3,673 kWh｜MAPE 12.1%</a:t>
            </a:r>
          </a:p>
        </p:txBody>
      </p:sp>
      <p:sp>
        <p:nvSpPr>
          <p:cNvPr id="5" name="ridge-r2-panel">
            <a:extLst xmlns:a="http://schemas.openxmlformats.org/drawingml/2006/main">
              <a:ext uri="{FF2B5EF4-FFF2-40B4-BE49-F238E27FC236}">
                <a16:creationId xmlns:a16="http://schemas.microsoft.com/office/drawing/2014/main" id="{46F738D8-770A-4E3B-B0FB-2ACFDF9F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33750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2F7FF"/>
          </a:solidFill>
          <a:ln xmlns:a="http://schemas.openxmlformats.org/drawingml/2006/main" w="9525">
            <a:solidFill>
              <a:srgbClr val="D8E9FF"/>
            </a:solidFill>
            <a:prstDash val="solid"/>
          </a:ln>
        </p:spPr>
      </p:sp>
      <p:sp>
        <p:nvSpPr>
          <p:cNvPr id="6" name="ridge-baseline-panel">
            <a:extLst xmlns:a="http://schemas.openxmlformats.org/drawingml/2006/main">
              <a:ext uri="{FF2B5EF4-FFF2-40B4-BE49-F238E27FC236}">
                <a16:creationId xmlns:a16="http://schemas.microsoft.com/office/drawing/2014/main" id="{D9D881E2-B0F7-45AE-888A-1340FF8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33750"/>
            <a:ext cx="2571750" cy="266700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idge-r2">
            <a:extLst xmlns:a="http://schemas.openxmlformats.org/drawingml/2006/main">
              <a:ext uri="{FF2B5EF4-FFF2-40B4-BE49-F238E27FC236}">
                <a16:creationId xmlns:a16="http://schemas.microsoft.com/office/drawing/2014/main" id="{27F9ECD1-FE95-4AD4-AF6E-D99804E9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67125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0.809</a:t>
            </a:r>
          </a:p>
        </p:txBody>
      </p:sp>
      <p:sp>
        <p:nvSpPr>
          <p:cNvPr id="8" name="ridge-r2-label">
            <a:extLst xmlns:a="http://schemas.openxmlformats.org/drawingml/2006/main">
              <a:ext uri="{FF2B5EF4-FFF2-40B4-BE49-F238E27FC236}">
                <a16:creationId xmlns:a16="http://schemas.microsoft.com/office/drawing/2014/main" id="{A0BE0A6D-C2BD-476C-B87E-4963BDBC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006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CV R²</a:t>
            </a:r>
          </a:p>
        </p:txBody>
      </p:sp>
      <p:sp>
        <p:nvSpPr>
          <p:cNvPr id="9" name="ridge-baseline">
            <a:extLst xmlns:a="http://schemas.openxmlformats.org/drawingml/2006/main">
              <a:ext uri="{FF2B5EF4-FFF2-40B4-BE49-F238E27FC236}">
                <a16:creationId xmlns:a16="http://schemas.microsoft.com/office/drawing/2014/main" id="{B03B43BF-3805-458A-89FE-9F33A66B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67125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62.3%</a:t>
            </a:r>
          </a:p>
        </p:txBody>
      </p:sp>
      <p:sp>
        <p:nvSpPr>
          <p:cNvPr id="10" name="ridge-baseline-label">
            <a:extLst xmlns:a="http://schemas.openxmlformats.org/drawingml/2006/main">
              <a:ext uri="{FF2B5EF4-FFF2-40B4-BE49-F238E27FC236}">
                <a16:creationId xmlns:a16="http://schemas.microsoft.com/office/drawing/2014/main" id="{E503F4F6-7783-44E2-97E9-CB56173E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905375"/>
            <a:ext cx="209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MAE 相對基準改善</a:t>
            </a:r>
          </a:p>
        </p:txBody>
      </p:sp>
      <p:sp>
        <p:nvSpPr>
          <p:cNvPr id="11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57A3C68A-5A6B-432A-83BC-E7C7817B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2770910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BAF15C8B-CD72-46CD-B03B-A59223D9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冷氣模組同時回答何時耗電與哪些設備先保養</a:t>
            </a:r>
          </a:p>
        </p:txBody>
      </p:sp>
      <p:sp>
        <p:nvSpPr>
          <p:cNvPr id="2" name="slide-8-number">
            <a:extLst xmlns:a="http://schemas.openxmlformats.org/drawingml/2006/main">
              <a:ext uri="{FF2B5EF4-FFF2-40B4-BE49-F238E27FC236}">
                <a16:creationId xmlns:a16="http://schemas.microsoft.com/office/drawing/2014/main" id="{2826400E-3347-4DC5-9551-CE595B6F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ac-chart-frame">
            <a:extLst xmlns:a="http://schemas.openxmlformats.org/drawingml/2006/main">
              <a:ext uri="{FF2B5EF4-FFF2-40B4-BE49-F238E27FC236}">
                <a16:creationId xmlns:a16="http://schemas.microsoft.com/office/drawing/2014/main" id="{380BAC0E-3C8D-4BFD-9152-0F698868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5524500" cy="5143500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111"/>
            </a:solidFill>
            <a:prstDash val="solid"/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66750" y="1476375"/>
          <a:ext xmlns:a="http://schemas.openxmlformats.org/drawingml/2006/main" cx="5000625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885550242e45e0"/>
          </a:graphicData>
        </a:graphic>
      </p:graphicFrame>
      <p:sp>
        <p:nvSpPr>
          <p:cNvPr id="5" name="ac-summary">
            <a:extLst xmlns:a="http://schemas.openxmlformats.org/drawingml/2006/main">
              <a:ext uri="{FF2B5EF4-FFF2-40B4-BE49-F238E27FC236}">
                <a16:creationId xmlns:a16="http://schemas.microsoft.com/office/drawing/2014/main" id="{4CC2CA85-9B5A-4C76-B273-10D44DA6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5191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50 台變頻一級能效｜1.45 kW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平均溫度 25°C｜設定 26°C｜30 天</a:t>
            </a:r>
          </a:p>
        </p:txBody>
      </p:sp>
      <p:sp>
        <p:nvSpPr>
          <p:cNvPr id="6" name="ac-energy">
            <a:extLst xmlns:a="http://schemas.openxmlformats.org/drawingml/2006/main">
              <a:ext uri="{FF2B5EF4-FFF2-40B4-BE49-F238E27FC236}">
                <a16:creationId xmlns:a16="http://schemas.microsoft.com/office/drawing/2014/main" id="{53E0FB75-E94B-470C-AE4E-BECC6DE4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52875"/>
            <a:ext cx="2238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5,337 kWh</a:t>
            </a:r>
          </a:p>
        </p:txBody>
      </p:sp>
      <p:sp>
        <p:nvSpPr>
          <p:cNvPr id="7" name="ac-energy-label">
            <a:extLst xmlns:a="http://schemas.openxmlformats.org/drawingml/2006/main">
              <a:ext uri="{FF2B5EF4-FFF2-40B4-BE49-F238E27FC236}">
                <a16:creationId xmlns:a16="http://schemas.microsoft.com/office/drawing/2014/main" id="{A942A406-05A6-446A-9EB7-707CAD35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000625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估計月耗電</a:t>
            </a:r>
          </a:p>
        </p:txBody>
      </p:sp>
      <p:sp>
        <p:nvSpPr>
          <p:cNvPr id="8" name="ac-risk">
            <a:extLst xmlns:a="http://schemas.openxmlformats.org/drawingml/2006/main">
              <a:ext uri="{FF2B5EF4-FFF2-40B4-BE49-F238E27FC236}">
                <a16:creationId xmlns:a16="http://schemas.microsoft.com/office/drawing/2014/main" id="{F9779933-5283-48F5-9161-72536660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52875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7.5%</a:t>
            </a:r>
          </a:p>
        </p:txBody>
      </p:sp>
      <p:sp>
        <p:nvSpPr>
          <p:cNvPr id="9" name="ac-risk-label">
            <a:extLst xmlns:a="http://schemas.openxmlformats.org/drawingml/2006/main">
              <a:ext uri="{FF2B5EF4-FFF2-40B4-BE49-F238E27FC236}">
                <a16:creationId xmlns:a16="http://schemas.microsoft.com/office/drawing/2014/main" id="{7C196BAE-38B8-4D38-80E3-AD657149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000625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單台年度故障機率</a:t>
            </a:r>
          </a:p>
        </p:txBody>
      </p:sp>
      <p:sp>
        <p:nvSpPr>
          <p:cNvPr id="10" name="demo-data-footer">
            <a:extLst xmlns:a="http://schemas.openxmlformats.org/drawingml/2006/main">
              <a:ext uri="{FF2B5EF4-FFF2-40B4-BE49-F238E27FC236}">
                <a16:creationId xmlns:a16="http://schemas.microsoft.com/office/drawing/2014/main" id="{943B2BB9-5BCF-48B3-ADEA-22CACF03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示範資料｜僅用於驗證系統流程，不代表校內實際成效</a:t>
            </a:r>
          </a:p>
        </p:txBody>
      </p:sp>
    </p:spTree>
    <p:extLst>
      <p:ext uri="{BB962C8B-B14F-4D97-AF65-F5344CB8AC3E}">
        <p14:creationId xmlns:p14="http://schemas.microsoft.com/office/powerpoint/2010/main" val="8045151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CA417017-E70C-45A8-B24D-92BF4BC5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網站把分析結果轉成四種可操作輸出</a:t>
            </a:r>
          </a:p>
        </p:txBody>
      </p:sp>
      <p:sp>
        <p:nvSpPr>
          <p:cNvPr id="2" name="slide-9-number">
            <a:extLst xmlns:a="http://schemas.openxmlformats.org/drawingml/2006/main">
              <a:ext uri="{FF2B5EF4-FFF2-40B4-BE49-F238E27FC236}">
                <a16:creationId xmlns:a16="http://schemas.microsoft.com/office/drawing/2014/main" id="{A954FD73-4B23-4685-A4B9-C08F252F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cxnSp>
        <p:nvCxnSpPr>
          <p:cNvPr id="17" name="capability-rule-1"/>
          <p:cNvCxnSpPr/>
          <p:nvPr/>
        </p:nvCxnSpPr>
        <p:spPr>
          <a:xfrm xmlns:a="http://schemas.openxmlformats.org/drawingml/2006/main">
            <a:off x="400050" y="19050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8BCC4"/>
            </a:solidFill>
            <a:prstDash val="solid"/>
          </a:ln>
        </p:spPr>
      </p:cxnSp>
      <p:sp>
        <p:nvSpPr>
          <p:cNvPr id="4" name="capability-title-1">
            <a:extLst xmlns:a="http://schemas.openxmlformats.org/drawingml/2006/main">
              <a:ext uri="{FF2B5EF4-FFF2-40B4-BE49-F238E27FC236}">
                <a16:creationId xmlns:a16="http://schemas.microsoft.com/office/drawing/2014/main" id="{86167A77-BA78-4431-B614-5542160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717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跨年度趨勢</a:t>
            </a:r>
          </a:p>
        </p:txBody>
      </p:sp>
      <p:sp>
        <p:nvSpPr>
          <p:cNvPr id="5" name="capability-body-1">
            <a:extLst xmlns:a="http://schemas.openxmlformats.org/drawingml/2006/main">
              <a:ext uri="{FF2B5EF4-FFF2-40B4-BE49-F238E27FC236}">
                <a16:creationId xmlns:a16="http://schemas.microsoft.com/office/drawing/2014/main" id="{36433385-1B95-4063-AAEB-F9BBA8590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523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以年份＋月份排序，查看高低用電、住房率、溫度與開館日。</a:t>
            </a:r>
          </a:p>
        </p:txBody>
      </p:sp>
      <p:cxnSp>
        <p:nvCxnSpPr>
          <p:cNvPr id="20" name="capability-rule-2"/>
          <p:cNvCxnSpPr/>
          <p:nvPr/>
        </p:nvCxnSpPr>
        <p:spPr>
          <a:xfrm xmlns:a="http://schemas.openxmlformats.org/drawingml/2006/main">
            <a:off x="6267450" y="19050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8BCC4"/>
            </a:solidFill>
            <a:prstDash val="solid"/>
          </a:ln>
        </p:spPr>
      </p:cxnSp>
      <p:sp>
        <p:nvSpPr>
          <p:cNvPr id="7" name="capability-title-2">
            <a:extLst xmlns:a="http://schemas.openxmlformats.org/drawingml/2006/main">
              <a:ext uri="{FF2B5EF4-FFF2-40B4-BE49-F238E27FC236}">
                <a16:creationId xmlns:a16="http://schemas.microsoft.com/office/drawing/2014/main" id="{025D53CD-0C69-482C-8F43-500C94C1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717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用途與節能情境</a:t>
            </a:r>
          </a:p>
        </p:txBody>
      </p:sp>
      <p:sp>
        <p:nvSpPr>
          <p:cNvPr id="8" name="capability-body-2">
            <a:extLst xmlns:a="http://schemas.openxmlformats.org/drawingml/2006/main">
              <a:ext uri="{FF2B5EF4-FFF2-40B4-BE49-F238E27FC236}">
                <a16:creationId xmlns:a16="http://schemas.microsoft.com/office/drawing/2014/main" id="{7108555F-1A5B-44BF-9B54-04256711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76550"/>
            <a:ext cx="523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拆解基礎、照明、熱水、冷氣與其他用電，估算節電、節費及減碳。</a:t>
            </a:r>
          </a:p>
        </p:txBody>
      </p:sp>
      <p:cxnSp>
        <p:nvCxnSpPr>
          <p:cNvPr id="23" name="capability-rule-3"/>
          <p:cNvCxnSpPr/>
          <p:nvPr/>
        </p:nvCxnSpPr>
        <p:spPr>
          <a:xfrm xmlns:a="http://schemas.openxmlformats.org/drawingml/2006/main">
            <a:off x="400050" y="4048125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B8BCC4"/>
            </a:solidFill>
            <a:prstDash val="solid"/>
          </a:ln>
        </p:spPr>
      </p:cxnSp>
      <p:sp>
        <p:nvSpPr>
          <p:cNvPr id="10" name="capability-title-3">
            <a:extLst xmlns:a="http://schemas.openxmlformats.org/drawingml/2006/main">
              <a:ext uri="{FF2B5EF4-FFF2-40B4-BE49-F238E27FC236}">
                <a16:creationId xmlns:a16="http://schemas.microsoft.com/office/drawing/2014/main" id="{844A09E9-5BB4-4F85-9556-3F5247EE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1482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下月用電預測</a:t>
            </a:r>
          </a:p>
        </p:txBody>
      </p:sp>
      <p:sp>
        <p:nvSpPr>
          <p:cNvPr id="11" name="capability-body-3">
            <a:extLst xmlns:a="http://schemas.openxmlformats.org/drawingml/2006/main">
              <a:ext uri="{FF2B5EF4-FFF2-40B4-BE49-F238E27FC236}">
                <a16:creationId xmlns:a16="http://schemas.microsoft.com/office/drawing/2014/main" id="{95B81F34-5D34-4A82-89BD-DC4EBAB0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9675"/>
            <a:ext cx="523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呈現留一法指標、模型基準、預測參考範圍與外插提醒。</a:t>
            </a:r>
          </a:p>
        </p:txBody>
      </p:sp>
      <p:cxnSp>
        <p:nvCxnSpPr>
          <p:cNvPr id="26" name="capability-rule-4"/>
          <p:cNvCxnSpPr/>
          <p:nvPr/>
        </p:nvCxnSpPr>
        <p:spPr>
          <a:xfrm xmlns:a="http://schemas.openxmlformats.org/drawingml/2006/main">
            <a:off x="6267450" y="4048125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0757A6"/>
            </a:solidFill>
            <a:prstDash val="solid"/>
          </a:ln>
        </p:spPr>
      </p:cxnSp>
      <p:sp>
        <p:nvSpPr>
          <p:cNvPr id="13" name="capability-title-4">
            <a:extLst xmlns:a="http://schemas.openxmlformats.org/drawingml/2006/main">
              <a:ext uri="{FF2B5EF4-FFF2-40B4-BE49-F238E27FC236}">
                <a16:creationId xmlns:a16="http://schemas.microsoft.com/office/drawing/2014/main" id="{2C10CF80-526B-4EE7-9170-C3677208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14825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冷氣清冊排名</a:t>
            </a:r>
          </a:p>
        </p:txBody>
      </p:sp>
      <p:sp>
        <p:nvSpPr>
          <p:cNvPr id="14" name="capability-body-4">
            <a:extLst xmlns:a="http://schemas.openxmlformats.org/drawingml/2006/main">
              <a:ext uri="{FF2B5EF4-FFF2-40B4-BE49-F238E27FC236}">
                <a16:creationId xmlns:a16="http://schemas.microsoft.com/office/drawing/2014/main" id="{57A69C03-AE85-45DF-8CF4-5F0E85FD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19675"/>
            <a:ext cx="5238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批次輸出每組月耗電、故障機率、預期故障台數及維護建議。</a:t>
            </a:r>
          </a:p>
        </p:txBody>
      </p:sp>
    </p:spTree>
    <p:extLst>
      <p:ext uri="{BB962C8B-B14F-4D97-AF65-F5344CB8AC3E}">
        <p14:creationId xmlns:p14="http://schemas.microsoft.com/office/powerpoint/2010/main" val="7892687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202C08DB-FA06-471D-AB46-61F6B9F4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研究誠信決定這個專題是否可信</a:t>
            </a:r>
          </a:p>
        </p:txBody>
      </p:sp>
      <p:sp>
        <p:nvSpPr>
          <p:cNvPr id="2" name="slide-10-number">
            <a:extLst xmlns:a="http://schemas.openxmlformats.org/drawingml/2006/main">
              <a:ext uri="{FF2B5EF4-FFF2-40B4-BE49-F238E27FC236}">
                <a16:creationId xmlns:a16="http://schemas.microsoft.com/office/drawing/2014/main" id="{CBECD501-2003-45CE-92EC-21ED809A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cxnSp>
        <p:nvCxnSpPr>
          <p:cNvPr id="11" name="integrity-divider"/>
          <p:cNvCxnSpPr/>
          <p:nvPr/>
        </p:nvCxnSpPr>
        <p:spPr>
          <a:xfrm xmlns:a="http://schemas.openxmlformats.org/drawingml/2006/main">
            <a:off x="6096000" y="1666875"/>
            <a:ext cx="0" cy="3905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4" name="integrity-left-title">
            <a:extLst xmlns:a="http://schemas.openxmlformats.org/drawingml/2006/main">
              <a:ext uri="{FF2B5EF4-FFF2-40B4-BE49-F238E27FC236}">
                <a16:creationId xmlns:a16="http://schemas.microsoft.com/office/drawing/2014/main" id="{CA4F5558-D000-46E9-9CA4-FDC77B49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目前可以證明</a:t>
            </a:r>
          </a:p>
        </p:txBody>
      </p:sp>
      <p:sp>
        <p:nvSpPr>
          <p:cNvPr id="5" name="integrity-left-bullets">
            <a:extLst xmlns:a="http://schemas.openxmlformats.org/drawingml/2006/main">
              <a:ext uri="{FF2B5EF4-FFF2-40B4-BE49-F238E27FC236}">
                <a16:creationId xmlns:a16="http://schemas.microsoft.com/office/drawing/2014/main" id="{D276C8B3-DEE1-45B3-8147-F4488155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05125"/>
            <a:ext cx="5143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系統能讀取跨年度月資料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模型能產生留一法樣本外指標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完整工作簿能通過資料品質檢核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冷氣設備群組能產生風險排序</a:t>
            </a:r>
          </a:p>
        </p:txBody>
      </p:sp>
      <p:sp>
        <p:nvSpPr>
          <p:cNvPr id="6" name="integrity-right-title">
            <a:extLst xmlns:a="http://schemas.openxmlformats.org/drawingml/2006/main">
              <a:ext uri="{FF2B5EF4-FFF2-40B4-BE49-F238E27FC236}">
                <a16:creationId xmlns:a16="http://schemas.microsoft.com/office/drawing/2014/main" id="{B9820A56-6508-4D78-8CFA-D163FE87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05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B42318"/>
                </a:solidFill>
                <a:latin typeface="Microsoft JhengHei"/>
                <a:ea typeface="Microsoft JhengHei"/>
                <a:cs typeface="Microsoft JhengHei"/>
              </a:rPr>
              <a:t>目前不能宣稱</a:t>
            </a:r>
          </a:p>
        </p:txBody>
      </p:sp>
      <p:sp>
        <p:nvSpPr>
          <p:cNvPr id="7" name="integrity-right-bullets">
            <a:extLst xmlns:a="http://schemas.openxmlformats.org/drawingml/2006/main">
              <a:ext uri="{FF2B5EF4-FFF2-40B4-BE49-F238E27FC236}">
                <a16:creationId xmlns:a16="http://schemas.microsoft.com/office/drawing/2014/main" id="{E4EA4D1A-FED7-4D12-B75C-68CB47FC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05125"/>
            <a:ext cx="5143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示範數值是淡江宿舍真實量測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情境節電等於實際節電成效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比例風險就是校內真實故障率</a:t>
            </a:r>
          </a:p>
          <a:p xmlns:a="http://schemas.openxmlformats.org/drawingml/2006/main">
            <a:pPr marL="28" indent="-14">
              <a:lnSpc>
                <a:spcPct val="116000"/>
              </a:lnSpc>
              <a:buNone/>
              <a:def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10 個月份足以代表其他年度</a:t>
            </a:r>
          </a:p>
        </p:txBody>
      </p:sp>
      <p:sp>
        <p:nvSpPr>
          <p:cNvPr id="8" name="integrity-bottom">
            <a:extLst xmlns:a="http://schemas.openxmlformats.org/drawingml/2006/main">
              <a:ext uri="{FF2B5EF4-FFF2-40B4-BE49-F238E27FC236}">
                <a16:creationId xmlns:a16="http://schemas.microsoft.com/office/drawing/2014/main" id="{DFAA6CA4-887F-433B-A59F-07A6B2F6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正式結論需要：24–36 個月授權資料、設備銘牌、保養與故障標籤，以及時間序列驗證。</a:t>
            </a:r>
          </a:p>
        </p:txBody>
      </p:sp>
    </p:spTree>
    <p:extLst>
      <p:ext uri="{BB962C8B-B14F-4D97-AF65-F5344CB8AC3E}">
        <p14:creationId xmlns:p14="http://schemas.microsoft.com/office/powerpoint/2010/main" val="6643085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DF07B1D5-A253-44D5-BA4E-EBB5BF90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5750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正式資料到位後，12 週可完成研究驗證與口試</a:t>
            </a:r>
          </a:p>
        </p:txBody>
      </p:sp>
      <p:sp>
        <p:nvSpPr>
          <p:cNvPr id="2" name="slide-11-number">
            <a:extLst xmlns:a="http://schemas.openxmlformats.org/drawingml/2006/main">
              <a:ext uri="{FF2B5EF4-FFF2-40B4-BE49-F238E27FC236}">
                <a16:creationId xmlns:a16="http://schemas.microsoft.com/office/drawing/2014/main" id="{535C4BB5-0337-4CD7-97D8-67DE405D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cxnSp>
        <p:nvCxnSpPr>
          <p:cNvPr id="18" name="roadmap-line"/>
          <p:cNvCxnSpPr/>
          <p:nvPr/>
        </p:nvCxnSpPr>
        <p:spPr>
          <a:xfrm xmlns:a="http://schemas.openxmlformats.org/drawingml/2006/main">
            <a:off x="400050" y="3333750"/>
            <a:ext cx="11391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roadmap-dot-1">
            <a:extLst xmlns:a="http://schemas.openxmlformats.org/drawingml/2006/main">
              <a:ext uri="{FF2B5EF4-FFF2-40B4-BE49-F238E27FC236}">
                <a16:creationId xmlns:a16="http://schemas.microsoft.com/office/drawing/2014/main" id="{0B8324BE-F9CF-4A3C-A239-E954DA00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AEF361F4-833E-472C-B66C-C1B35089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第 1–4 週</a:t>
            </a:r>
          </a:p>
        </p:txBody>
      </p:sp>
      <p:sp>
        <p:nvSpPr>
          <p:cNvPr id="6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3475D461-0DA1-432C-B5DC-2E0F8BEF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取得與清理資料</a:t>
            </a:r>
          </a:p>
        </p:txBody>
      </p:sp>
      <p:sp>
        <p:nvSpPr>
          <p:cNvPr id="7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771A53F7-7F8C-4CD5-92F2-0D142B13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確認授權、欄位、來源與量測期間；替換工作簿示範列。</a:t>
            </a:r>
          </a:p>
        </p:txBody>
      </p:sp>
      <p:sp>
        <p:nvSpPr>
          <p:cNvPr id="8" name="roadmap-dot-2">
            <a:extLst xmlns:a="http://schemas.openxmlformats.org/drawingml/2006/main">
              <a:ext uri="{FF2B5EF4-FFF2-40B4-BE49-F238E27FC236}">
                <a16:creationId xmlns:a16="http://schemas.microsoft.com/office/drawing/2014/main" id="{42427654-C29C-4FBA-879E-843732EF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7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289E9615-A281-4BF8-A5D5-4BB1A41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第 5–8 週</a:t>
            </a:r>
          </a:p>
        </p:txBody>
      </p:sp>
      <p:sp>
        <p:nvSpPr>
          <p:cNvPr id="10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6B7C14B7-0514-4EBA-8BEF-F55E28EC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重跑與驗證模型</a:t>
            </a:r>
          </a:p>
        </p:txBody>
      </p:sp>
      <p:sp>
        <p:nvSpPr>
          <p:cNvPr id="11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F6E6D40D-F1E4-48E5-98E0-BBC6B633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加入時間序列切分、季節基準與實際故障標籤校準。</a:t>
            </a:r>
          </a:p>
        </p:txBody>
      </p:sp>
      <p:sp>
        <p:nvSpPr>
          <p:cNvPr id="12" name="roadmap-dot-3">
            <a:extLst xmlns:a="http://schemas.openxmlformats.org/drawingml/2006/main">
              <a:ext uri="{FF2B5EF4-FFF2-40B4-BE49-F238E27FC236}">
                <a16:creationId xmlns:a16="http://schemas.microsoft.com/office/drawing/2014/main" id="{BD3D5BF5-5822-4759-9EC0-662D55A9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5B832E04-7872-4416-96E5-276D4E6A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622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第 9–12 週</a:t>
            </a:r>
          </a:p>
        </p:txBody>
      </p:sp>
      <p:sp>
        <p:nvSpPr>
          <p:cNvPr id="14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894473CD-3E9E-453D-9E4F-B3F577459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57625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整合成果與口試</a:t>
            </a:r>
          </a:p>
        </p:txBody>
      </p:sp>
      <p:sp>
        <p:nvSpPr>
          <p:cNvPr id="15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1BA5B1FD-FE6D-4F4F-96A1-5292CDE8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14875"/>
            <a:ext cx="3143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訪談機電人員、更新報告圖表、演練 3 分鐘展示與問答。</a:t>
            </a:r>
          </a:p>
        </p:txBody>
      </p:sp>
    </p:spTree>
    <p:extLst>
      <p:ext uri="{BB962C8B-B14F-4D97-AF65-F5344CB8AC3E}">
        <p14:creationId xmlns:p14="http://schemas.microsoft.com/office/powerpoint/2010/main" val="15151336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nclusion-eyebrow">
            <a:extLst xmlns:a="http://schemas.openxmlformats.org/drawingml/2006/main">
              <a:ext uri="{FF2B5EF4-FFF2-40B4-BE49-F238E27FC236}">
                <a16:creationId xmlns:a16="http://schemas.microsoft.com/office/drawing/2014/main" id="{4AC0083D-B2E1-425A-9EE1-81226B73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757A6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conclusion-message">
            <a:extLst xmlns:a="http://schemas.openxmlformats.org/drawingml/2006/main">
              <a:ext uri="{FF2B5EF4-FFF2-40B4-BE49-F238E27FC236}">
                <a16:creationId xmlns:a16="http://schemas.microsoft.com/office/drawing/2014/main" id="{D7FB6C27-6F57-4345-B51B-ADBFDFAC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0490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讓宿舍用電從「看總量」進入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「可解釋、可驗證、可行動」</a:t>
            </a:r>
          </a:p>
        </p:txBody>
      </p:sp>
      <p:sp>
        <p:nvSpPr>
          <p:cNvPr id="3" name="conclusion-points">
            <a:extLst xmlns:a="http://schemas.openxmlformats.org/drawingml/2006/main">
              <a:ext uri="{FF2B5EF4-FFF2-40B4-BE49-F238E27FC236}">
                <a16:creationId xmlns:a16="http://schemas.microsoft.com/office/drawing/2014/main" id="{210655AA-5992-4F8E-A601-1213FFEE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00625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11111"/>
                </a:solidFill>
                <a:latin typeface="Microsoft JhengHei"/>
                <a:ea typeface="Microsoft JhengHei"/>
                <a:cs typeface="Microsoft JhengHei"/>
              </a:rPr>
              <a:t>跨年度資料整合｜樣本外模型驗證｜冷氣設備清冊排名</a:t>
            </a:r>
          </a:p>
        </p:txBody>
      </p:sp>
      <p:sp>
        <p:nvSpPr>
          <p:cNvPr id="4" name="conclusion-qa">
            <a:extLst xmlns:a="http://schemas.openxmlformats.org/drawingml/2006/main">
              <a:ext uri="{FF2B5EF4-FFF2-40B4-BE49-F238E27FC236}">
                <a16:creationId xmlns:a16="http://schemas.microsoft.com/office/drawing/2014/main" id="{2B230C0E-D706-48CC-AD9D-A4CF2658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5787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>
                <a:solidFill>
                  <a:srgbClr val="596273"/>
                </a:solidFill>
                <a:latin typeface="Microsoft JhengHei"/>
                <a:ea typeface="Microsoft JhengHei"/>
                <a:cs typeface="Microsoft JhengHei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1463598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2026-08-11T17:51:54.7220000Z</dcterms:created>
  <dcterms:modified xsi:type="dcterms:W3CDTF">2026-08-11T17:51:54.7220000Z</dcterms:modified>
</coreProperties>
</file>