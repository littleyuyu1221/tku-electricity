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b6a7d10419413e" /><Relationship Type="http://schemas.openxmlformats.org/officeDocument/2006/relationships/extended-properties" Target="/docProps/app.xml" Id="Rbfdcee565cd143e6" /><Relationship Type="http://schemas.openxmlformats.org/officeDocument/2006/relationships/officeDocument" Target="/ppt/presentation.xml" Id="R2ffea4c4a7a841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d9b91cade04aa2"/>
  </p:sldMasterIdLst>
  <p:notesMasterIdLst>
    <p:notesMasterId xmlns:r="http://schemas.openxmlformats.org/officeDocument/2006/relationships" r:id="R28bfb1e1438f4cae"/>
  </p:notesMasterIdLst>
  <p:sldIdLst>
    <p:sldId xmlns:r="http://schemas.openxmlformats.org/officeDocument/2006/relationships" id="256" r:id="R7e75db30277744a9"/>
    <p:sldId xmlns:r="http://schemas.openxmlformats.org/officeDocument/2006/relationships" id="257" r:id="Rc1fc6114900b4a32"/>
    <p:sldId xmlns:r="http://schemas.openxmlformats.org/officeDocument/2006/relationships" id="258" r:id="R245c106b3d854efb"/>
    <p:sldId xmlns:r="http://schemas.openxmlformats.org/officeDocument/2006/relationships" id="259" r:id="R9576511aa5f04c7e"/>
    <p:sldId xmlns:r="http://schemas.openxmlformats.org/officeDocument/2006/relationships" id="260" r:id="Ree56bf376f7a4a81"/>
    <p:sldId xmlns:r="http://schemas.openxmlformats.org/officeDocument/2006/relationships" id="261" r:id="Rb8a22347e0264b6d"/>
    <p:sldId xmlns:r="http://schemas.openxmlformats.org/officeDocument/2006/relationships" id="262" r:id="R0be654afef9c4c38"/>
    <p:sldId xmlns:r="http://schemas.openxmlformats.org/officeDocument/2006/relationships" id="263" r:id="R931484edafdc4ed0"/>
    <p:sldId xmlns:r="http://schemas.openxmlformats.org/officeDocument/2006/relationships" id="264" r:id="R2723839beb7b4a5f"/>
    <p:sldId xmlns:r="http://schemas.openxmlformats.org/officeDocument/2006/relationships" id="265" r:id="R7d4b280715f8417a"/>
    <p:sldId xmlns:r="http://schemas.openxmlformats.org/officeDocument/2006/relationships" id="266" r:id="R3faba5cb6dfd438c"/>
    <p:sldId xmlns:r="http://schemas.openxmlformats.org/officeDocument/2006/relationships" id="267" r:id="R2bea90dcfbb746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4047b78f644c74" /><Relationship Type="http://schemas.openxmlformats.org/officeDocument/2006/relationships/slideMaster" Target="/ppt/slideMasters/slideMaster1.xml" Id="Ra9d9b91cade04aa2" /><Relationship Type="http://schemas.openxmlformats.org/officeDocument/2006/relationships/notesMaster" Target="/ppt/notesMasters/notesMaster1.xml" Id="R28bfb1e1438f4cae" /><Relationship Type="http://schemas.openxmlformats.org/officeDocument/2006/relationships/presProps" Target="/ppt/presProps.xml" Id="Rd63bd1fc05c74d30" /><Relationship Type="http://schemas.openxmlformats.org/officeDocument/2006/relationships/tableStyles" Target="/ppt/tableStyles.xml" Id="Rcb052e0fe2cf433b" /><Relationship Type="http://schemas.openxmlformats.org/officeDocument/2006/relationships/slide" Target="/ppt/slides/slide1.xml" Id="R7e75db30277744a9" /><Relationship Type="http://schemas.openxmlformats.org/officeDocument/2006/relationships/slide" Target="/ppt/slides/slide2.xml" Id="Rc1fc6114900b4a32" /><Relationship Type="http://schemas.openxmlformats.org/officeDocument/2006/relationships/slide" Target="/ppt/slides/slide3.xml" Id="R245c106b3d854efb" /><Relationship Type="http://schemas.openxmlformats.org/officeDocument/2006/relationships/slide" Target="/ppt/slides/slide4.xml" Id="R9576511aa5f04c7e" /><Relationship Type="http://schemas.openxmlformats.org/officeDocument/2006/relationships/slide" Target="/ppt/slides/slide5.xml" Id="Ree56bf376f7a4a81" /><Relationship Type="http://schemas.openxmlformats.org/officeDocument/2006/relationships/slide" Target="/ppt/slides/slide6.xml" Id="Rb8a22347e0264b6d" /><Relationship Type="http://schemas.openxmlformats.org/officeDocument/2006/relationships/slide" Target="/ppt/slides/slide7.xml" Id="R0be654afef9c4c38" /><Relationship Type="http://schemas.openxmlformats.org/officeDocument/2006/relationships/slide" Target="/ppt/slides/slide8.xml" Id="R931484edafdc4ed0" /><Relationship Type="http://schemas.openxmlformats.org/officeDocument/2006/relationships/slide" Target="/ppt/slides/slide9.xml" Id="R2723839beb7b4a5f" /><Relationship Type="http://schemas.openxmlformats.org/officeDocument/2006/relationships/slide" Target="/ppt/slides/slide10.xml" Id="R7d4b280715f8417a" /><Relationship Type="http://schemas.openxmlformats.org/officeDocument/2006/relationships/slide" Target="/ppt/slides/slide11.xml" Id="R3faba5cb6dfd438c" /><Relationship Type="http://schemas.openxmlformats.org/officeDocument/2006/relationships/slide" Target="/ppt/slides/slide12.xml" Id="R2bea90dcfbb746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9a3632ef64e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72b4093cf94462" /><Relationship Type="http://schemas.openxmlformats.org/officeDocument/2006/relationships/notesMaster" Target="/ppt/notesMasters/notesMaster1.xml" Id="R265b49ee5f7d48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f7eec8caf4c99" /><Relationship Type="http://schemas.openxmlformats.org/officeDocument/2006/relationships/notesMaster" Target="/ppt/notesMasters/notesMaster1.xml" Id="Rd8fb8c6a969c44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62ca12c4fe4272" /><Relationship Type="http://schemas.openxmlformats.org/officeDocument/2006/relationships/notesMaster" Target="/ppt/notesMasters/notesMaster1.xml" Id="R3d6ac2398ae64f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dbde81b6854674" /><Relationship Type="http://schemas.openxmlformats.org/officeDocument/2006/relationships/notesMaster" Target="/ppt/notesMasters/notesMaster1.xml" Id="Rf4666b582a4e48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9f3ffcf1174f8d" /><Relationship Type="http://schemas.openxmlformats.org/officeDocument/2006/relationships/notesMaster" Target="/ppt/notesMasters/notesMaster1.xml" Id="R40aba69e3b264c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278c247c8e4ce1" /><Relationship Type="http://schemas.openxmlformats.org/officeDocument/2006/relationships/notesMaster" Target="/ppt/notesMasters/notesMaster1.xml" Id="Raab1e848fb7742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e0b5b0e2a4195" /><Relationship Type="http://schemas.openxmlformats.org/officeDocument/2006/relationships/notesMaster" Target="/ppt/notesMasters/notesMaster1.xml" Id="Rdccf0522fc6f47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d1b31baeb94565" /><Relationship Type="http://schemas.openxmlformats.org/officeDocument/2006/relationships/notesMaster" Target="/ppt/notesMasters/notesMaster1.xml" Id="Rcf982ab2b58a49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1197efb32c4d77" /><Relationship Type="http://schemas.openxmlformats.org/officeDocument/2006/relationships/notesMaster" Target="/ppt/notesMasters/notesMaster1.xml" Id="R2c4baaa3c6b94e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cd3fffb5144870" /><Relationship Type="http://schemas.openxmlformats.org/officeDocument/2006/relationships/notesMaster" Target="/ppt/notesMasters/notesMaster1.xml" Id="Ra5fbfccbbe1e44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0bedcdf19a4a10" /><Relationship Type="http://schemas.openxmlformats.org/officeDocument/2006/relationships/notesMaster" Target="/ppt/notesMasters/notesMaster1.xml" Id="R8edb4639d53e48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1ff1105a704a7b" /><Relationship Type="http://schemas.openxmlformats.org/officeDocument/2006/relationships/notesMaster" Target="/ppt/notesMasters/notesMaster1.xml" Id="Red092f29233747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先用一句話說明：本專題把用電、住宿、氣候與冷氣維護資料整合成可操作的決策系統。再補上自己的系所、姓名、學號與指導教授。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本專題 GitHub：https://github.com/Littleyuyu1221/tku-electricity</a:t>
            </a:r>
          </a:p>
          <a:p xmlns:a="http://schemas.openxmlformats.org/drawingml/2006/main">
            <a:r>
              <a:t>- 線上系統：https://tku-electricity-1229.streamlit.app/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先說管理上的痛點，再說本專題不是只做圖表，而是把資料檢核、模型驗證與設備維護串起來。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outputs/專題報告初稿.docx，第 1 章與第 3 章</a:t>
            </a:r>
          </a:p>
          <a:p xmlns:a="http://schemas.openxmlformats.org/drawingml/2006/main">
            <a:r>
              <a:t>- outputs/app.py，資料檢核與六個功能頁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把三個問題依序講成：先了解原因，再驗證預測，最後轉成設備管理行動。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outputs/專題報告初稿.docx，第 1.3 節研究問題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用這張圖說明資料流，不必逐行解釋程式。強調所有結果都先通過格式與合理性檢查。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outputs/app.py，read_upload、資料檢核、build_energy_model、estimate_ac_operation</a:t>
            </a:r>
          </a:p>
          <a:p xmlns:a="http://schemas.openxmlformats.org/drawingml/2006/main">
            <a:r>
              <a:t>- outputs/宿舍用電與冷氣資料蒐集範本.xlsx，品質檢核工作表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說明最低需要月用電、住宿、開館與氣溫；冷氣清冊和事件紀錄是把展示模型變成正式研究模型的關鍵。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outputs/宿舍用電與冷氣資料蒐集範本.xlsx</a:t>
            </a:r>
          </a:p>
          <a:p xmlns:a="http://schemas.openxmlformats.org/drawingml/2006/main">
            <a:r>
              <a:t>- outputs/資料蒐集與驗收清單.md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這張圖只用來示範系統如何辨識學期與低住宿月份。明確說出資料是內建示範值，不能當成淡江宿舍實際用電。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outputs/宿舍用電資料範本.csv，2024 年 12 個月示範資料</a:t>
            </a:r>
          </a:p>
          <a:p xmlns:a="http://schemas.openxmlformats.org/drawingml/2006/main">
            <a:r>
              <a:t>- outputs/app.py，快速看懂用電頁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先說所有指標都來自留一法，不是訓練分數。再解釋 62.3% 是相對於同樣留一切分的其餘月份平均值。最後提醒只有 10 個有效月份。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outputs/app.py，build_energy_model</a:t>
            </a:r>
          </a:p>
          <a:p xmlns:a="http://schemas.openxmlformats.org/drawingml/2006/main">
            <a:r>
              <a:t>- outputs/宿舍用電資料範本.csv</a:t>
            </a:r>
          </a:p>
          <a:p xmlns:a="http://schemas.openxmlformats.org/drawingml/2006/main">
            <a:r>
              <a:t>- Hoerl &amp; Kennard (1970)：https://doi.org/10.1080/00401706.1970.10488634</a:t>
            </a:r>
          </a:p>
          <a:p xmlns:a="http://schemas.openxmlformats.org/drawingml/2006/main">
            <a:r>
              <a:t>- scikit-learn LeaveOneOut：https://scikit-learn.org/stable/modules/generated/sklearn.model_selection.LeaveOneOut.html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說明耗電公式會考慮台數、功率、部分負載、溫差、時段使用率與天數。故障率是工程比例風險情境，正式研究必須用校內故障標籤重新校準。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outputs/app.py，estimate_ac_operation 與 classify_ac_risk</a:t>
            </a:r>
          </a:p>
          <a:p xmlns:a="http://schemas.openxmlformats.org/drawingml/2006/main">
            <a:r>
              <a:t>- outputs/宿舍用電與冷氣資料蒐集範本.xlsx，冷氣設備清冊</a:t>
            </a:r>
          </a:p>
          <a:p xmlns:a="http://schemas.openxmlformats.org/drawingml/2006/main">
            <a:r>
              <a:t>- Cox (1972)：https://doi.org/10.1111/j.2517-6161.1972.tb00899.x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展示網站時依序點過四個核心輸出即可，不必逐一解釋所有圖表。冷氣頁最後展示設備清冊批次排名。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線上系統：https://tku-electricity-1229.streamlit.app/</a:t>
            </a:r>
          </a:p>
          <a:p xmlns:a="http://schemas.openxmlformats.org/drawingml/2006/main">
            <a:r>
              <a:t>- outputs/app.py，六個功能頁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這張是口試的重要防守頁。主動說明限制，反而能證明你理解模型有效性與研究倫理。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outputs/專題報告初稿.docx，第 7 章與第 8 章</a:t>
            </a:r>
          </a:p>
          <a:p xmlns:a="http://schemas.openxmlformats.org/drawingml/2006/main">
            <a:r>
              <a:t>- outputs/資料蒐集與驗收清單.md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若老師問下一步，不要回答再加圖表；回答先取得正式資料、用時間切分驗證，再讓機電人員檢查高風險設備名單。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outputs/資料蒐集與驗收清單.md，建議專題時程</a:t>
            </a:r>
          </a:p>
          <a:p xmlns:a="http://schemas.openxmlformats.org/drawingml/2006/main">
            <a:r>
              <a:t>- outputs/專題報告初稿.docx，第 8.2 節未來工作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最後重申貢獻不是某個單一分數，而是建立一條可重複、可驗證、能轉成管理行動的資料流程。接著進入問答。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outputs/專題報告初稿.docx，第 8.1 節結論</a:t>
            </a:r>
          </a:p>
          <a:p xmlns:a="http://schemas.openxmlformats.org/drawingml/2006/main">
            <a:r>
              <a:t>- 線上系統：https://tku-electricity-1229.streamlit.app/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76d2153b446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d21efb27774841" /><Relationship Type="http://schemas.openxmlformats.org/officeDocument/2006/relationships/slideLayout" Target="/ppt/slideLayouts/slideLayout1.xml" Id="R733cd58200ff4c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3cd58200ff4c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ef77269724c9e" /><Relationship Type="http://schemas.openxmlformats.org/officeDocument/2006/relationships/notesSlide" Target="/ppt/notesSlides/notesSlide1.xml" Id="Rb36a695919ac4a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b1e01a7c84566" /><Relationship Type="http://schemas.openxmlformats.org/officeDocument/2006/relationships/notesSlide" Target="/ppt/notesSlides/notesSlide2.xml" Id="R88dba12c66ea48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c0f4ae25046d0" /><Relationship Type="http://schemas.openxmlformats.org/officeDocument/2006/relationships/notesSlide" Target="/ppt/notesSlides/notesSlide3.xml" Id="R5eb7a7ccdc854d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9f745b38c46d4" /><Relationship Type="http://schemas.openxmlformats.org/officeDocument/2006/relationships/notesSlide" Target="/ppt/notesSlides/notesSlide4.xml" Id="R3565ed914aa340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c1341cc114ab5" /><Relationship Type="http://schemas.openxmlformats.org/officeDocument/2006/relationships/notesSlide" Target="/ppt/notesSlides/notesSlide5.xml" Id="R0a4c38faea494e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c874a75094f2f" /><Relationship Type="http://schemas.openxmlformats.org/officeDocument/2006/relationships/chart" Target="/ppt/slides/charts/chart1.xml" Id="Ra065da2c3f734c43" /><Relationship Type="http://schemas.openxmlformats.org/officeDocument/2006/relationships/notesSlide" Target="/ppt/notesSlides/notesSlide6.xml" Id="R1436948109c044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d9f9dca424ada" /><Relationship Type="http://schemas.openxmlformats.org/officeDocument/2006/relationships/chart" Target="/ppt/slides/charts/chart2.xml" Id="Rc11f046723704a56" /><Relationship Type="http://schemas.openxmlformats.org/officeDocument/2006/relationships/notesSlide" Target="/ppt/notesSlides/notesSlide7.xml" Id="R26a5107ac86840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7325a140d430b" /><Relationship Type="http://schemas.openxmlformats.org/officeDocument/2006/relationships/chart" Target="/ppt/slides/charts/chart3.xml" Id="R162ce592a5b247f8" /><Relationship Type="http://schemas.openxmlformats.org/officeDocument/2006/relationships/notesSlide" Target="/ppt/notesSlides/notesSlide8.xml" Id="Rdcce4372cacb46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6e05d3c254b97" /><Relationship Type="http://schemas.openxmlformats.org/officeDocument/2006/relationships/notesSlide" Target="/ppt/notesSlides/notesSlide9.xml" Id="Rd4c08256557c41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d354972e54d62" /><Relationship Type="http://schemas.openxmlformats.org/officeDocument/2006/relationships/notesSlide" Target="/ppt/notesSlides/notesSlide10.xml" Id="Raed206d15afb46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da1b4940c4563" /><Relationship Type="http://schemas.openxmlformats.org/officeDocument/2006/relationships/notesSlide" Target="/ppt/notesSlides/notesSlide11.xml" Id="R97c29d9b6c5f45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e09461c174a3f" /><Relationship Type="http://schemas.openxmlformats.org/officeDocument/2006/relationships/notesSlide" Target="/ppt/notesSlides/notesSlide12.xml" Id="R5a042d6610944d7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總用電</c:v>
          </c:tx>
          <c:spPr>
            <a:solidFill xmlns:a="http://schemas.openxmlformats.org/drawingml/2006/main">
              <a:srgbClr val="0757A6"/>
            </a:solidFill>
          </c:spPr>
          <c:cat>
            <c:numLit>
              <c:formatCode>General</c:formatCode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#,##0</c:formatCode>
              <c:ptCount val="12"/>
              <c:pt idx="0">
                <c:v>19521</c:v>
              </c:pt>
              <c:pt idx="1">
                <c:v>17634</c:v>
              </c:pt>
              <c:pt idx="2">
                <c:v>45606</c:v>
              </c:pt>
              <c:pt idx="3">
                <c:v>42192</c:v>
              </c:pt>
              <c:pt idx="4">
                <c:v>50989</c:v>
              </c:pt>
              <c:pt idx="5">
                <c:v>41913</c:v>
              </c:pt>
              <c:pt idx="6">
                <c:v>4682</c:v>
              </c:pt>
              <c:pt idx="7">
                <c:v>5681</c:v>
              </c:pt>
              <c:pt idx="8">
                <c:v>48200</c:v>
              </c:pt>
              <c:pt idx="9">
                <c:v>46000</c:v>
              </c:pt>
              <c:pt idx="10">
                <c:v>44000</c:v>
              </c:pt>
              <c:pt idx="11">
                <c:v>49000</c:v>
              </c:pt>
            </c:numLit>
          </c:val>
        </c:ser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月份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6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用電量（kWh）</a:t>
                </a:r>
              </a:p>
            </c:rich>
          </c:tx>
          <c:overlay val="0"/>
        </c:title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1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實際</c:v>
          </c:tx>
          <c:spPr>
            <a:ln xmlns:a="http://schemas.openxmlformats.org/drawingml/2006/main" w="38100">
              <a:solidFill>
                <a:srgbClr val="0757A6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757A6"/>
              </a:solidFill>
            </c:spPr>
          </c:marker>
          <c:cat>
            <c:numLit>
              <c:formatCode>General</c:formatCode>
              <c:ptCount val="10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09</c:v>
              </c:pt>
              <c:pt idx="7">
                <c:v>10</c:v>
              </c:pt>
              <c:pt idx="8">
                <c:v>11</c:v>
              </c:pt>
              <c:pt idx="9">
                <c:v>12</c:v>
              </c:pt>
            </c:numLit>
          </c:cat>
          <c:val>
            <c:numLit>
              <c:formatCode>#,##0</c:formatCode>
              <c:ptCount val="10"/>
              <c:pt idx="0">
                <c:v>19521</c:v>
              </c:pt>
              <c:pt idx="1">
                <c:v>17634</c:v>
              </c:pt>
              <c:pt idx="2">
                <c:v>45606</c:v>
              </c:pt>
              <c:pt idx="3">
                <c:v>42192</c:v>
              </c:pt>
              <c:pt idx="4">
                <c:v>50989</c:v>
              </c:pt>
              <c:pt idx="5">
                <c:v>41913</c:v>
              </c:pt>
              <c:pt idx="6">
                <c:v>48200</c:v>
              </c:pt>
              <c:pt idx="7">
                <c:v>46000</c:v>
              </c:pt>
              <c:pt idx="8">
                <c:v>44000</c:v>
              </c:pt>
              <c:pt idx="9">
                <c:v>49000</c:v>
              </c:pt>
            </c:numLit>
          </c:val>
        </c:ser>
        <c:ser>
          <c:idx val="1"/>
          <c:order val="1"/>
          <c:tx>
            <c:v>留一法預測</c:v>
          </c:tx>
          <c:spPr>
            <a:ln xmlns:a="http://schemas.openxmlformats.org/drawingml/2006/main" w="28575">
              <a:solidFill>
                <a:srgbClr val="D768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D76800"/>
              </a:solidFill>
            </c:spPr>
          </c:marker>
          <c:cat>
            <c:numLit>
              <c:formatCode>General</c:formatCode>
              <c:ptCount val="10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09</c:v>
              </c:pt>
              <c:pt idx="7">
                <c:v>10</c:v>
              </c:pt>
              <c:pt idx="8">
                <c:v>11</c:v>
              </c:pt>
              <c:pt idx="9">
                <c:v>12</c:v>
              </c:pt>
            </c:numLit>
          </c:cat>
          <c:val>
            <c:numLit>
              <c:formatCode>#,##0</c:formatCode>
              <c:ptCount val="10"/>
              <c:pt idx="0">
                <c:v>31827</c:v>
              </c:pt>
              <c:pt idx="1">
                <c:v>16114</c:v>
              </c:pt>
              <c:pt idx="2">
                <c:v>45362</c:v>
              </c:pt>
              <c:pt idx="3">
                <c:v>44274</c:v>
              </c:pt>
              <c:pt idx="4">
                <c:v>47446</c:v>
              </c:pt>
              <c:pt idx="5">
                <c:v>45932</c:v>
              </c:pt>
              <c:pt idx="6">
                <c:v>42803</c:v>
              </c:pt>
              <c:pt idx="7">
                <c:v>48614</c:v>
              </c:pt>
              <c:pt idx="8">
                <c:v>43534</c:v>
              </c:pt>
              <c:pt idx="9">
                <c:v>44457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月份（2024）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6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用電量（kWh）</a:t>
                </a:r>
              </a:p>
            </c:rich>
          </c:tx>
          <c:overlay val="0"/>
        </c:title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1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月耗電</c:v>
          </c:tx>
          <c:spPr>
            <a:solidFill xmlns:a="http://schemas.openxmlformats.org/drawingml/2006/main">
              <a:srgbClr val="0757A6"/>
            </a:solidFill>
          </c:spPr>
          <c:cat>
            <c:strLit>
              <c:ptCount val="4"/>
              <c:pt idx="0">
                <c:v>00–06</c:v>
              </c:pt>
              <c:pt idx="1">
                <c:v>06–12</c:v>
              </c:pt>
              <c:pt idx="2">
                <c:v>12–18</c:v>
              </c:pt>
              <c:pt idx="3">
                <c:v>18–24</c:v>
              </c:pt>
            </c:strLit>
          </c:cat>
          <c:val>
            <c:numLit>
              <c:formatCode>#,##0</c:formatCode>
              <c:ptCount val="4"/>
              <c:pt idx="0">
                <c:v>1514</c:v>
              </c:pt>
              <c:pt idx="1">
                <c:v>433</c:v>
              </c:pt>
              <c:pt idx="2">
                <c:v>1552</c:v>
              </c:pt>
              <c:pt idx="3">
                <c:v>1838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月耗電（kWh）</a:t>
                </a:r>
              </a:p>
            </c:rich>
          </c:tx>
          <c:overlay val="0"/>
        </c:title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7729BC5-D36D-47D0-999B-F29D6BBF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淡江大學｜大四專題口試</a:t>
            </a:r>
          </a:p>
        </p:txBody>
      </p:sp>
      <p:sp>
        <p:nvSpPr>
          <p:cNvPr id="2" name="cover-year">
            <a:extLst xmlns:a="http://schemas.openxmlformats.org/drawingml/2006/main">
              <a:ext uri="{FF2B5EF4-FFF2-40B4-BE49-F238E27FC236}">
                <a16:creationId xmlns:a16="http://schemas.microsoft.com/office/drawing/2014/main" id="{CF299D7F-276D-43F8-83A8-5B2DE1F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46B892E-CBF4-4806-9D06-0350F298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校園宿舍用電分析、預測與</a:t>
            </a:r>
          </a:p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冷氣故障風險系統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E8E5E6BA-464A-4D0F-B05D-3F3CDAF2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學生：＿＿＿＿＿＿　指導教授：＿＿＿＿＿＿</a:t>
            </a:r>
          </a:p>
        </p:txBody>
      </p:sp>
    </p:spTree>
    <p:extLst>
      <p:ext uri="{BB962C8B-B14F-4D97-AF65-F5344CB8AC3E}">
        <p14:creationId xmlns:p14="http://schemas.microsoft.com/office/powerpoint/2010/main" val="1978994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7B4EAFC-6C7D-40EB-AD58-069ECA1A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宿舍用電不能只看帳單總額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697609F1-941E-43A6-B0EE-A1FD7928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0F237E6F-DD6C-4569-9DF4-7AE96AFD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同樣的月用電，可能來自住宿人數增加、開館時間變長、氣溫升高，或設備效率下降；若沒有把資料放在一起，管理者無法判斷原因。</a:t>
            </a:r>
          </a:p>
        </p:txBody>
      </p:sp>
      <p:sp>
        <p:nvSpPr>
          <p:cNvPr id="4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CB308E56-DE07-44CC-9DB0-A2DB6F2F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524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C5324F0F-CF1F-4BFF-AE7E-CDCB7EC2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5524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E9FF"/>
            </a:solidFill>
            <a:prstDash val="solid"/>
          </a:ln>
        </p:spPr>
      </p:sp>
      <p:sp>
        <p:nvSpPr>
          <p:cNvPr id="6" name="problem-panel-title">
            <a:extLst xmlns:a="http://schemas.openxmlformats.org/drawingml/2006/main">
              <a:ext uri="{FF2B5EF4-FFF2-40B4-BE49-F238E27FC236}">
                <a16:creationId xmlns:a16="http://schemas.microsoft.com/office/drawing/2014/main" id="{F50E9BE7-3A7B-44C8-9384-7E803A5A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現在的困難</a:t>
            </a:r>
          </a:p>
        </p:txBody>
      </p:sp>
      <p:sp>
        <p:nvSpPr>
          <p:cNvPr id="7" name="solution-panel-title">
            <a:extLst xmlns:a="http://schemas.openxmlformats.org/drawingml/2006/main">
              <a:ext uri="{FF2B5EF4-FFF2-40B4-BE49-F238E27FC236}">
                <a16:creationId xmlns:a16="http://schemas.microsoft.com/office/drawing/2014/main" id="{740D5384-16B7-4A22-AFEB-31780570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24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本專題的解法</a:t>
            </a:r>
          </a:p>
        </p:txBody>
      </p:sp>
      <p:sp>
        <p:nvSpPr>
          <p:cNvPr id="8" name="problem-details">
            <a:extLst xmlns:a="http://schemas.openxmlformats.org/drawingml/2006/main">
              <a:ext uri="{FF2B5EF4-FFF2-40B4-BE49-F238E27FC236}">
                <a16:creationId xmlns:a16="http://schemas.microsoft.com/office/drawing/2014/main" id="{E736B4B7-08A0-4D5B-9929-6B7E96B2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分散的月資料缺少共同時間軸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總量無法直接說明使用效率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維修紀錄難以轉成保養優先順序</a:t>
            </a:r>
          </a:p>
        </p:txBody>
      </p:sp>
      <p:sp>
        <p:nvSpPr>
          <p:cNvPr id="9" name="solution-details">
            <a:extLst xmlns:a="http://schemas.openxmlformats.org/drawingml/2006/main">
              <a:ext uri="{FF2B5EF4-FFF2-40B4-BE49-F238E27FC236}">
                <a16:creationId xmlns:a16="http://schemas.microsoft.com/office/drawing/2014/main" id="{0441EF94-BB17-4BA5-A41D-3ECA0C16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053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以年月整合用電、住宿與氣候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用交叉驗證呈現預測誤差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批次估算冷氣耗電與故障風險</a:t>
            </a:r>
          </a:p>
        </p:txBody>
      </p:sp>
    </p:spTree>
    <p:extLst>
      <p:ext uri="{BB962C8B-B14F-4D97-AF65-F5344CB8AC3E}">
        <p14:creationId xmlns:p14="http://schemas.microsoft.com/office/powerpoint/2010/main" val="118269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4F471CD-78CE-4D51-A475-E114ADC5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三個問題把用電、預測與維護串成一條研究線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2E4AC016-D2C8-4A70-891A-7CB115A5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question-number-1">
            <a:extLst xmlns:a="http://schemas.openxmlformats.org/drawingml/2006/main">
              <a:ext uri="{FF2B5EF4-FFF2-40B4-BE49-F238E27FC236}">
                <a16:creationId xmlns:a16="http://schemas.microsoft.com/office/drawing/2014/main" id="{6129ED53-1D23-4F73-B542-FBE6D54F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B8BC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450" b="1">
                <a:solidFill>
                  <a:srgbClr val="B8BCC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question-title-1">
            <a:extLst xmlns:a="http://schemas.openxmlformats.org/drawingml/2006/main">
              <a:ext uri="{FF2B5EF4-FFF2-40B4-BE49-F238E27FC236}">
                <a16:creationId xmlns:a16="http://schemas.microsoft.com/office/drawing/2014/main" id="{BC9DF134-D299-403D-8FD2-84F43EB8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哪些條件影響用電？</a:t>
            </a:r>
          </a:p>
        </p:txBody>
      </p:sp>
      <p:sp>
        <p:nvSpPr>
          <p:cNvPr id="5" name="question-body-1">
            <a:extLst xmlns:a="http://schemas.openxmlformats.org/drawingml/2006/main">
              <a:ext uri="{FF2B5EF4-FFF2-40B4-BE49-F238E27FC236}">
                <a16:creationId xmlns:a16="http://schemas.microsoft.com/office/drawing/2014/main" id="{71E966B5-D6CE-49DC-B336-077D23C3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862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比較住宿人日、冷房度日、開館天數與總用電的關係。</a:t>
            </a:r>
          </a:p>
        </p:txBody>
      </p:sp>
      <p:sp>
        <p:nvSpPr>
          <p:cNvPr id="6" name="question-number-2">
            <a:extLst xmlns:a="http://schemas.openxmlformats.org/drawingml/2006/main">
              <a:ext uri="{FF2B5EF4-FFF2-40B4-BE49-F238E27FC236}">
                <a16:creationId xmlns:a16="http://schemas.microsoft.com/office/drawing/2014/main" id="{D325B719-5C46-449B-B40B-C9DB07A3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71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4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question-title-2">
            <a:extLst xmlns:a="http://schemas.openxmlformats.org/drawingml/2006/main">
              <a:ext uri="{FF2B5EF4-FFF2-40B4-BE49-F238E27FC236}">
                <a16:creationId xmlns:a16="http://schemas.microsoft.com/office/drawing/2014/main" id="{5C3E6CC6-C447-493A-A259-B6EAC148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模型能否預測未見月份？</a:t>
            </a:r>
          </a:p>
        </p:txBody>
      </p:sp>
      <p:sp>
        <p:nvSpPr>
          <p:cNvPr id="8" name="question-body-2">
            <a:extLst xmlns:a="http://schemas.openxmlformats.org/drawingml/2006/main">
              <a:ext uri="{FF2B5EF4-FFF2-40B4-BE49-F238E27FC236}">
                <a16:creationId xmlns:a16="http://schemas.microsoft.com/office/drawing/2014/main" id="{EE204F5E-90A8-4FA0-B62B-32D6B5D5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862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用 Ridge 迴歸與留一法，報告 R²、MAE、RMSE、MAPE 與基準改善率。</a:t>
            </a:r>
          </a:p>
        </p:txBody>
      </p:sp>
      <p:sp>
        <p:nvSpPr>
          <p:cNvPr id="9" name="question-number-3">
            <a:extLst xmlns:a="http://schemas.openxmlformats.org/drawingml/2006/main">
              <a:ext uri="{FF2B5EF4-FFF2-40B4-BE49-F238E27FC236}">
                <a16:creationId xmlns:a16="http://schemas.microsoft.com/office/drawing/2014/main" id="{3D806E6C-745A-4328-83CC-C50331D9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71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B8BC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450" b="1">
                <a:solidFill>
                  <a:srgbClr val="B8BCC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question-title-3">
            <a:extLst xmlns:a="http://schemas.openxmlformats.org/drawingml/2006/main">
              <a:ext uri="{FF2B5EF4-FFF2-40B4-BE49-F238E27FC236}">
                <a16:creationId xmlns:a16="http://schemas.microsoft.com/office/drawing/2014/main" id="{18E6C4F3-7B23-4494-BAB1-82D24CE9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哪些冷氣應優先處理？</a:t>
            </a:r>
          </a:p>
        </p:txBody>
      </p:sp>
      <p:sp>
        <p:nvSpPr>
          <p:cNvPr id="11" name="question-body-3">
            <a:extLst xmlns:a="http://schemas.openxmlformats.org/drawingml/2006/main">
              <a:ext uri="{FF2B5EF4-FFF2-40B4-BE49-F238E27FC236}">
                <a16:creationId xmlns:a16="http://schemas.microsoft.com/office/drawing/2014/main" id="{BF74CE72-98CE-40C7-BD08-9AF24341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依機型、機齡、負載、保養與故障紀錄，產生耗電與風險排序。</a:t>
            </a:r>
          </a:p>
        </p:txBody>
      </p:sp>
    </p:spTree>
    <p:extLst>
      <p:ext uri="{BB962C8B-B14F-4D97-AF65-F5344CB8AC3E}">
        <p14:creationId xmlns:p14="http://schemas.microsoft.com/office/powerpoint/2010/main" val="1416306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6DF0074-4C39-4CE8-9E69-828ADE5F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資料先被檢核，再進入兩條可解釋的模型路徑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4119B12-3D4C-4D8F-B5DD-034399E4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architecture-lead">
            <a:extLst xmlns:a="http://schemas.openxmlformats.org/drawingml/2006/main">
              <a:ext uri="{FF2B5EF4-FFF2-40B4-BE49-F238E27FC236}">
                <a16:creationId xmlns:a16="http://schemas.microsoft.com/office/drawing/2014/main" id="{E7BD6B29-ECCC-49C4-BB62-0BA1CB0B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月資料用來分析總用電與下月預測；設備清冊則用來估算分時冷氣耗電與維護風險。兩條路徑共享資料品質規則與下載結果。</a:t>
            </a:r>
          </a:p>
        </p:txBody>
      </p:sp>
      <p:sp>
        <p:nvSpPr>
          <p:cNvPr id="4" name="architecture-points">
            <a:extLst xmlns:a="http://schemas.openxmlformats.org/drawingml/2006/main">
              <a:ext uri="{FF2B5EF4-FFF2-40B4-BE49-F238E27FC236}">
                <a16:creationId xmlns:a16="http://schemas.microsoft.com/office/drawing/2014/main" id="{BC830A18-3EC9-4A1D-9281-B4231338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lnSpc>
                <a:spcPct val="116000"/>
              </a:lnSpc>
              <a:buNone/>
              <a:def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年月排序與範圍檢核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人日、冷房度日等衍生欄位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模型指標、參考範圍與外插提醒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圖表、CSV 與完整工作簿下載</a:t>
            </a:r>
          </a:p>
        </p:txBody>
      </p:sp>
      <p:sp>
        <p:nvSpPr>
          <p:cNvPr id="5" name="architecture-field">
            <a:extLst xmlns:a="http://schemas.openxmlformats.org/drawingml/2006/main">
              <a:ext uri="{FF2B5EF4-FFF2-40B4-BE49-F238E27FC236}">
                <a16:creationId xmlns:a16="http://schemas.microsoft.com/office/drawing/2014/main" id="{3B56E94A-DFA1-4884-8B72-A46F118A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23950"/>
            <a:ext cx="5524500" cy="48768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E9FF"/>
            </a:solidFill>
            <a:prstDash val="solid"/>
          </a:ln>
        </p:spPr>
      </p:sp>
      <p:cxnSp>
        <p:nvCxnSpPr>
          <p:cNvPr id="25" name="architecture-connector-1"/>
          <p:cNvCxnSpPr/>
          <p:nvPr/>
        </p:nvCxnSpPr>
        <p:spPr>
          <a:xfrm xmlns:a="http://schemas.openxmlformats.org/drawingml/2006/main">
            <a:off x="9029700" y="19812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7A6"/>
            </a:solidFill>
            <a:prstDash val="solid"/>
          </a:ln>
        </p:spPr>
      </p:cxnSp>
      <p:cxnSp>
        <p:nvCxnSpPr>
          <p:cNvPr id="26" name="architecture-connector-2"/>
          <p:cNvCxnSpPr/>
          <p:nvPr/>
        </p:nvCxnSpPr>
        <p:spPr>
          <a:xfrm xmlns:a="http://schemas.openxmlformats.org/drawingml/2006/main">
            <a:off x="9029700" y="28765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7A6"/>
            </a:solidFill>
            <a:prstDash val="solid"/>
          </a:ln>
        </p:spPr>
      </p:cxnSp>
      <p:cxnSp>
        <p:nvCxnSpPr>
          <p:cNvPr id="27" name="architecture-connector-3"/>
          <p:cNvCxnSpPr/>
          <p:nvPr/>
        </p:nvCxnSpPr>
        <p:spPr>
          <a:xfrm xmlns:a="http://schemas.openxmlformats.org/drawingml/2006/main">
            <a:off x="9029700" y="37719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7A6"/>
            </a:solidFill>
            <a:prstDash val="solid"/>
          </a:ln>
        </p:spPr>
      </p:cxnSp>
      <p:cxnSp>
        <p:nvCxnSpPr>
          <p:cNvPr id="28" name="architecture-connector-4"/>
          <p:cNvCxnSpPr/>
          <p:nvPr/>
        </p:nvCxnSpPr>
        <p:spPr>
          <a:xfrm xmlns:a="http://schemas.openxmlformats.org/drawingml/2006/main">
            <a:off x="9029700" y="46672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7A6"/>
            </a:solidFill>
            <a:prstDash val="solid"/>
          </a:ln>
        </p:spPr>
      </p:cxnSp>
      <p:sp>
        <p:nvSpPr>
          <p:cNvPr id="10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F55D358F-322C-439C-97F4-8F2631BF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52550"/>
            <a:ext cx="457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rchitecture-node-text-1">
            <a:extLst xmlns:a="http://schemas.openxmlformats.org/drawingml/2006/main">
              <a:ext uri="{FF2B5EF4-FFF2-40B4-BE49-F238E27FC236}">
                <a16:creationId xmlns:a16="http://schemas.microsoft.com/office/drawing/2014/main" id="{E6545E9E-CB28-4D14-AE22-38D4244D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049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Excel／CSV 原始資料</a:t>
            </a:r>
          </a:p>
        </p:txBody>
      </p:sp>
      <p:sp>
        <p:nvSpPr>
          <p:cNvPr id="12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1B5A79FE-7387-4513-8FB6-3D489A2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57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architecture-node-text-2">
            <a:extLst xmlns:a="http://schemas.openxmlformats.org/drawingml/2006/main">
              <a:ext uri="{FF2B5EF4-FFF2-40B4-BE49-F238E27FC236}">
                <a16:creationId xmlns:a16="http://schemas.microsoft.com/office/drawing/2014/main" id="{37528928-F309-4FC1-9178-B1AC9529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欄位、空值與關係檢核</a:t>
            </a:r>
          </a:p>
        </p:txBody>
      </p:sp>
      <p:sp>
        <p:nvSpPr>
          <p:cNvPr id="14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618DBDD3-8CB3-41DD-8619-D3DB1C30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57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architecture-node-text-3">
            <a:extLst xmlns:a="http://schemas.openxmlformats.org/drawingml/2006/main">
              <a:ext uri="{FF2B5EF4-FFF2-40B4-BE49-F238E27FC236}">
                <a16:creationId xmlns:a16="http://schemas.microsoft.com/office/drawing/2014/main" id="{2D364DAC-2E07-436D-9791-6BF5E4A2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人日與冷房度日</a:t>
            </a:r>
          </a:p>
        </p:txBody>
      </p:sp>
      <p:sp>
        <p:nvSpPr>
          <p:cNvPr id="16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C562D0A6-41D2-4163-B23F-E0216FD7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457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8E9FF"/>
          </a:solidFill>
          <a:ln xmlns:a="http://schemas.openxmlformats.org/drawingml/2006/main" w="9525">
            <a:solidFill>
              <a:srgbClr val="0757A6"/>
            </a:solidFill>
            <a:prstDash val="solid"/>
          </a:ln>
        </p:spPr>
      </p:sp>
      <p:sp>
        <p:nvSpPr>
          <p:cNvPr id="17" name="architecture-node-text-4">
            <a:extLst xmlns:a="http://schemas.openxmlformats.org/drawingml/2006/main">
              <a:ext uri="{FF2B5EF4-FFF2-40B4-BE49-F238E27FC236}">
                <a16:creationId xmlns:a16="http://schemas.microsoft.com/office/drawing/2014/main" id="{B94E0DEF-B0A2-4CB5-8B78-BF73D13D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Ridge／冷氣比例風險模型</a:t>
            </a:r>
          </a:p>
        </p:txBody>
      </p:sp>
      <p:sp>
        <p:nvSpPr>
          <p:cNvPr id="18" name="architecture-node-5">
            <a:extLst xmlns:a="http://schemas.openxmlformats.org/drawingml/2006/main">
              <a:ext uri="{FF2B5EF4-FFF2-40B4-BE49-F238E27FC236}">
                <a16:creationId xmlns:a16="http://schemas.microsoft.com/office/drawing/2014/main" id="{5E35DB79-FB34-4A0D-9E7E-A33C53B3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457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architecture-node-text-5">
            <a:extLst xmlns:a="http://schemas.openxmlformats.org/drawingml/2006/main">
              <a:ext uri="{FF2B5EF4-FFF2-40B4-BE49-F238E27FC236}">
                <a16:creationId xmlns:a16="http://schemas.microsoft.com/office/drawing/2014/main" id="{8A9BD809-3BFB-4C56-A375-8E596717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863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趨勢、預測與維護排序</a:t>
            </a:r>
          </a:p>
        </p:txBody>
      </p:sp>
    </p:spTree>
    <p:extLst>
      <p:ext uri="{BB962C8B-B14F-4D97-AF65-F5344CB8AC3E}">
        <p14:creationId xmlns:p14="http://schemas.microsoft.com/office/powerpoint/2010/main" val="1081932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B1C258B-2DCF-42E6-9C31-16863105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資料設計同時支援分析、模型與後續稽核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DD5AFB87-B0EF-4311-9466-1C078EE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data-table-lead">
            <a:extLst xmlns:a="http://schemas.openxmlformats.org/drawingml/2006/main">
              <a:ext uri="{FF2B5EF4-FFF2-40B4-BE49-F238E27FC236}">
                <a16:creationId xmlns:a16="http://schemas.microsoft.com/office/drawing/2014/main" id="{5C0E75D5-3D57-4949-9E36-467F8D29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每列資料都必須有清楚的時間、單位與用途；完整工作簿另含資料字典、選單與品質檢核。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3143250"/>
                <a:gridCol w="1428750"/>
                <a:gridCol w="2571750"/>
                <a:gridCol w="2819400"/>
              </a:tblGrid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資料類型</a:t>
                      </a:r>
                    </a:p>
                  </a:txBody>
                  <a:tcPr marL="91440" marR="91440" marT="45720" marB="45720">
                    <a:solidFill>
                      <a:srgbClr val="07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代表欄位</a:t>
                      </a:r>
                    </a:p>
                  </a:txBody>
                  <a:tcPr marL="91440" marR="91440" marT="45720" marB="45720">
                    <a:solidFill>
                      <a:srgbClr val="07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單位</a:t>
                      </a:r>
                    </a:p>
                  </a:txBody>
                  <a:tcPr marL="91440" marR="91440" marT="45720" marB="45720">
                    <a:solidFill>
                      <a:srgbClr val="07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主要檢核</a:t>
                      </a:r>
                    </a:p>
                  </a:txBody>
                  <a:tcPr marL="91440" marR="91440" marT="45720" marB="45720">
                    <a:solidFill>
                      <a:srgbClr val="07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研究用途</a:t>
                      </a:r>
                    </a:p>
                  </a:txBody>
                  <a:tcPr marL="91440" marR="91440" marT="45720" marB="45720">
                    <a:solidFill>
                      <a:srgbClr val="0757A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年份、月份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同年月不可重複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跨年度排序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總用電、熱水用電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非負且熱水≤總量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趨勢／用途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住宿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住宿人數、住宿天數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人／天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天數≤開館天數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住宿人日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營運氣候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開館天數、平均溫度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天／°C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合理範圍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冷房度日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冷氣清冊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機型、功率、台數、機齡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kW／台／年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型號與範圍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耗電／風險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維護事件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保養、巡檢、故障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日期／類別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事件與設備 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重新校準模型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639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63D84E1-9DCA-4F3F-A2F1-6349A36D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示範年度呈現明顯的學期與寒暑假落差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C2730964-C815-42D5-A8B7-0374C24D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1435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65da2c3f734c43"/>
          </a:graphicData>
        </a:graphic>
      </p:graphicFrame>
      <p:sp>
        <p:nvSpPr>
          <p:cNvPr id="4" name="monthly-card-1">
            <a:extLst xmlns:a="http://schemas.openxmlformats.org/drawingml/2006/main">
              <a:ext uri="{FF2B5EF4-FFF2-40B4-BE49-F238E27FC236}">
                <a16:creationId xmlns:a16="http://schemas.microsoft.com/office/drawing/2014/main" id="{D92486B7-3932-4A76-B9DE-310AA5DC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33500"/>
            <a:ext cx="552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E9FF"/>
            </a:solidFill>
            <a:prstDash val="solid"/>
          </a:ln>
        </p:spPr>
      </p:sp>
      <p:sp>
        <p:nvSpPr>
          <p:cNvPr id="5" name="monthly-stat-1">
            <a:extLst xmlns:a="http://schemas.openxmlformats.org/drawingml/2006/main">
              <a:ext uri="{FF2B5EF4-FFF2-40B4-BE49-F238E27FC236}">
                <a16:creationId xmlns:a16="http://schemas.microsoft.com/office/drawing/2014/main" id="{6B4B272F-E066-444A-902E-144832C0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621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415,418 kWh</a:t>
            </a:r>
          </a:p>
        </p:txBody>
      </p:sp>
      <p:sp>
        <p:nvSpPr>
          <p:cNvPr id="6" name="monthly-label-1">
            <a:extLst xmlns:a="http://schemas.openxmlformats.org/drawingml/2006/main">
              <a:ext uri="{FF2B5EF4-FFF2-40B4-BE49-F238E27FC236}">
                <a16:creationId xmlns:a16="http://schemas.microsoft.com/office/drawing/2014/main" id="{1E709EF8-AE61-47FE-8624-19AFE097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12 個月示範總量</a:t>
            </a:r>
          </a:p>
        </p:txBody>
      </p:sp>
      <p:sp>
        <p:nvSpPr>
          <p:cNvPr id="7" name="monthly-card-2">
            <a:extLst xmlns:a="http://schemas.openxmlformats.org/drawingml/2006/main">
              <a:ext uri="{FF2B5EF4-FFF2-40B4-BE49-F238E27FC236}">
                <a16:creationId xmlns:a16="http://schemas.microsoft.com/office/drawing/2014/main" id="{FF5E52BC-80AE-4387-AACE-1D0B806B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552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nthly-stat-2">
            <a:extLst xmlns:a="http://schemas.openxmlformats.org/drawingml/2006/main">
              <a:ext uri="{FF2B5EF4-FFF2-40B4-BE49-F238E27FC236}">
                <a16:creationId xmlns:a16="http://schemas.microsoft.com/office/drawing/2014/main" id="{A67B3DD1-AFC8-4B1D-874D-9674E41A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50,989 kWh</a:t>
            </a:r>
          </a:p>
        </p:txBody>
      </p:sp>
      <p:sp>
        <p:nvSpPr>
          <p:cNvPr id="9" name="monthly-label-2">
            <a:extLst xmlns:a="http://schemas.openxmlformats.org/drawingml/2006/main">
              <a:ext uri="{FF2B5EF4-FFF2-40B4-BE49-F238E27FC236}">
                <a16:creationId xmlns:a16="http://schemas.microsoft.com/office/drawing/2014/main" id="{31BB89B1-C7B3-4B5D-A6CD-D5464E6C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5 月最高</a:t>
            </a:r>
          </a:p>
        </p:txBody>
      </p:sp>
      <p:sp>
        <p:nvSpPr>
          <p:cNvPr id="10" name="monthly-card-3">
            <a:extLst xmlns:a="http://schemas.openxmlformats.org/drawingml/2006/main">
              <a:ext uri="{FF2B5EF4-FFF2-40B4-BE49-F238E27FC236}">
                <a16:creationId xmlns:a16="http://schemas.microsoft.com/office/drawing/2014/main" id="{B11B41D1-7933-44C3-ACE2-8E152EAF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552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nthly-stat-3">
            <a:extLst xmlns:a="http://schemas.openxmlformats.org/drawingml/2006/main">
              <a:ext uri="{FF2B5EF4-FFF2-40B4-BE49-F238E27FC236}">
                <a16:creationId xmlns:a16="http://schemas.microsoft.com/office/drawing/2014/main" id="{9DCA65D9-4F3B-423C-A3CD-DAC3B453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38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4,682 kWh</a:t>
            </a:r>
          </a:p>
        </p:txBody>
      </p:sp>
      <p:sp>
        <p:nvSpPr>
          <p:cNvPr id="12" name="monthly-label-3">
            <a:extLst xmlns:a="http://schemas.openxmlformats.org/drawingml/2006/main">
              <a:ext uri="{FF2B5EF4-FFF2-40B4-BE49-F238E27FC236}">
                <a16:creationId xmlns:a16="http://schemas.microsoft.com/office/drawing/2014/main" id="{443BB84D-A73C-4AC1-A85A-EEA7DBC5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7 月最低</a:t>
            </a:r>
          </a:p>
        </p:txBody>
      </p:sp>
      <p:sp>
        <p:nvSpPr>
          <p:cNvPr id="13" name="demo-data-footer">
            <a:extLst xmlns:a="http://schemas.openxmlformats.org/drawingml/2006/main">
              <a:ext uri="{FF2B5EF4-FFF2-40B4-BE49-F238E27FC236}">
                <a16:creationId xmlns:a16="http://schemas.microsoft.com/office/drawing/2014/main" id="{1B9824BB-E7D4-4E4E-BDCF-F1843FDA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示範資料｜僅用於驗證系統流程，不代表校內實際成效</a:t>
            </a:r>
          </a:p>
        </p:txBody>
      </p:sp>
    </p:spTree>
    <p:extLst>
      <p:ext uri="{BB962C8B-B14F-4D97-AF65-F5344CB8AC3E}">
        <p14:creationId xmlns:p14="http://schemas.microsoft.com/office/powerpoint/2010/main" val="1662288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D362992-BC4E-4E0E-8F3F-2DC2940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Ridge 在留一法中優於月平均基準，但樣本仍小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7A949E3B-15DF-4FC6-86F7-EB0410F6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5245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1f046723704a56"/>
          </a:graphicData>
        </a:graphic>
      </p:graphicFrame>
      <p:sp>
        <p:nvSpPr>
          <p:cNvPr id="4" name="ridge-summary">
            <a:extLst xmlns:a="http://schemas.openxmlformats.org/drawingml/2006/main">
              <a:ext uri="{FF2B5EF4-FFF2-40B4-BE49-F238E27FC236}">
                <a16:creationId xmlns:a16="http://schemas.microsoft.com/office/drawing/2014/main" id="{41CA661A-65D8-47FF-9B07-285134E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524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10 個有住宿月份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MAE 3,673 kWh｜MAPE 12.1%</a:t>
            </a:r>
          </a:p>
        </p:txBody>
      </p:sp>
      <p:sp>
        <p:nvSpPr>
          <p:cNvPr id="5" name="ridge-r2-panel">
            <a:extLst xmlns:a="http://schemas.openxmlformats.org/drawingml/2006/main">
              <a:ext uri="{FF2B5EF4-FFF2-40B4-BE49-F238E27FC236}">
                <a16:creationId xmlns:a16="http://schemas.microsoft.com/office/drawing/2014/main" id="{783C1762-BEF4-4882-A16D-3391BA1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E9FF"/>
            </a:solidFill>
            <a:prstDash val="solid"/>
          </a:ln>
        </p:spPr>
      </p:sp>
      <p:sp>
        <p:nvSpPr>
          <p:cNvPr id="6" name="ridge-baseline-panel">
            <a:extLst xmlns:a="http://schemas.openxmlformats.org/drawingml/2006/main">
              <a:ext uri="{FF2B5EF4-FFF2-40B4-BE49-F238E27FC236}">
                <a16:creationId xmlns:a16="http://schemas.microsoft.com/office/drawing/2014/main" id="{718F1747-E88F-4B36-9F47-B34AF257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dge-r2">
            <a:extLst xmlns:a="http://schemas.openxmlformats.org/drawingml/2006/main">
              <a:ext uri="{FF2B5EF4-FFF2-40B4-BE49-F238E27FC236}">
                <a16:creationId xmlns:a16="http://schemas.microsoft.com/office/drawing/2014/main" id="{A04DA6AD-EB94-4F5D-839A-C9FE45EC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6712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0.809</a:t>
            </a:r>
          </a:p>
        </p:txBody>
      </p:sp>
      <p:sp>
        <p:nvSpPr>
          <p:cNvPr id="8" name="ridge-r2-label">
            <a:extLst xmlns:a="http://schemas.openxmlformats.org/drawingml/2006/main">
              <a:ext uri="{FF2B5EF4-FFF2-40B4-BE49-F238E27FC236}">
                <a16:creationId xmlns:a16="http://schemas.microsoft.com/office/drawing/2014/main" id="{BA641DB0-228B-463D-A784-BF679337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00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CV R²</a:t>
            </a:r>
          </a:p>
        </p:txBody>
      </p:sp>
      <p:sp>
        <p:nvSpPr>
          <p:cNvPr id="9" name="ridge-baseline">
            <a:extLst xmlns:a="http://schemas.openxmlformats.org/drawingml/2006/main">
              <a:ext uri="{FF2B5EF4-FFF2-40B4-BE49-F238E27FC236}">
                <a16:creationId xmlns:a16="http://schemas.microsoft.com/office/drawing/2014/main" id="{00EB1292-7903-4B30-B094-2D8CF068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6712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62.3%</a:t>
            </a:r>
          </a:p>
        </p:txBody>
      </p:sp>
      <p:sp>
        <p:nvSpPr>
          <p:cNvPr id="10" name="ridge-baseline-label">
            <a:extLst xmlns:a="http://schemas.openxmlformats.org/drawingml/2006/main">
              <a:ext uri="{FF2B5EF4-FFF2-40B4-BE49-F238E27FC236}">
                <a16:creationId xmlns:a16="http://schemas.microsoft.com/office/drawing/2014/main" id="{A374EAAE-A4CF-4A2A-9671-153258A9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0537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MAE 相對基準改善</a:t>
            </a:r>
          </a:p>
        </p:txBody>
      </p:sp>
      <p:sp>
        <p:nvSpPr>
          <p:cNvPr id="11" name="demo-data-footer">
            <a:extLst xmlns:a="http://schemas.openxmlformats.org/drawingml/2006/main">
              <a:ext uri="{FF2B5EF4-FFF2-40B4-BE49-F238E27FC236}">
                <a16:creationId xmlns:a16="http://schemas.microsoft.com/office/drawing/2014/main" id="{23513CE9-910A-4190-AB29-8B1D3FB0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示範資料｜僅用於驗證系統流程，不代表校內實際成效</a:t>
            </a:r>
          </a:p>
        </p:txBody>
      </p:sp>
    </p:spTree>
    <p:extLst>
      <p:ext uri="{BB962C8B-B14F-4D97-AF65-F5344CB8AC3E}">
        <p14:creationId xmlns:p14="http://schemas.microsoft.com/office/powerpoint/2010/main" val="16748625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BD8E331F-3747-439A-838C-016A1A2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冷氣模組同時回答何時耗電與哪些設備先保養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9F311D57-FA26-428D-9674-70BFC3A6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ac-chart-frame">
            <a:extLst xmlns:a="http://schemas.openxmlformats.org/drawingml/2006/main">
              <a:ext uri="{FF2B5EF4-FFF2-40B4-BE49-F238E27FC236}">
                <a16:creationId xmlns:a16="http://schemas.microsoft.com/office/drawing/2014/main" id="{719F226E-2913-40E8-AF62-4AE8246B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524500" cy="5143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500062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2ce592a5b247f8"/>
          </a:graphicData>
        </a:graphic>
      </p:graphicFrame>
      <p:sp>
        <p:nvSpPr>
          <p:cNvPr id="5" name="ac-summary">
            <a:extLst xmlns:a="http://schemas.openxmlformats.org/drawingml/2006/main">
              <a:ext uri="{FF2B5EF4-FFF2-40B4-BE49-F238E27FC236}">
                <a16:creationId xmlns:a16="http://schemas.microsoft.com/office/drawing/2014/main" id="{2B75314B-2834-4C4D-BD14-39E77CA5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5191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50 台變頻一級能效｜1.45 kW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平均溫度 25°C｜設定 26°C｜30 天</a:t>
            </a:r>
          </a:p>
        </p:txBody>
      </p:sp>
      <p:sp>
        <p:nvSpPr>
          <p:cNvPr id="6" name="ac-energy">
            <a:extLst xmlns:a="http://schemas.openxmlformats.org/drawingml/2006/main">
              <a:ext uri="{FF2B5EF4-FFF2-40B4-BE49-F238E27FC236}">
                <a16:creationId xmlns:a16="http://schemas.microsoft.com/office/drawing/2014/main" id="{EE042C5C-827E-4B7C-BB01-FC7333C6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5,337 kWh</a:t>
            </a:r>
          </a:p>
        </p:txBody>
      </p:sp>
      <p:sp>
        <p:nvSpPr>
          <p:cNvPr id="7" name="ac-energy-label">
            <a:extLst xmlns:a="http://schemas.openxmlformats.org/drawingml/2006/main">
              <a:ext uri="{FF2B5EF4-FFF2-40B4-BE49-F238E27FC236}">
                <a16:creationId xmlns:a16="http://schemas.microsoft.com/office/drawing/2014/main" id="{B7D3C78E-B12D-46AA-BB81-32E8FB54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006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估計月耗電</a:t>
            </a:r>
          </a:p>
        </p:txBody>
      </p:sp>
      <p:sp>
        <p:nvSpPr>
          <p:cNvPr id="8" name="ac-risk">
            <a:extLst xmlns:a="http://schemas.openxmlformats.org/drawingml/2006/main">
              <a:ext uri="{FF2B5EF4-FFF2-40B4-BE49-F238E27FC236}">
                <a16:creationId xmlns:a16="http://schemas.microsoft.com/office/drawing/2014/main" id="{0A09627A-A3DB-4720-9966-9A5C0B6F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52875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7.5%</a:t>
            </a:r>
          </a:p>
        </p:txBody>
      </p:sp>
      <p:sp>
        <p:nvSpPr>
          <p:cNvPr id="9" name="ac-risk-label">
            <a:extLst xmlns:a="http://schemas.openxmlformats.org/drawingml/2006/main">
              <a:ext uri="{FF2B5EF4-FFF2-40B4-BE49-F238E27FC236}">
                <a16:creationId xmlns:a16="http://schemas.microsoft.com/office/drawing/2014/main" id="{04604EA0-2847-466E-9B17-4E4ACC0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00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單台年度故障機率</a:t>
            </a:r>
          </a:p>
        </p:txBody>
      </p:sp>
      <p:sp>
        <p:nvSpPr>
          <p:cNvPr id="10" name="demo-data-footer">
            <a:extLst xmlns:a="http://schemas.openxmlformats.org/drawingml/2006/main">
              <a:ext uri="{FF2B5EF4-FFF2-40B4-BE49-F238E27FC236}">
                <a16:creationId xmlns:a16="http://schemas.microsoft.com/office/drawing/2014/main" id="{0A582E46-3FCD-4878-A7DF-612CB69A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示範資料｜僅用於驗證系統流程，不代表校內實際成效</a:t>
            </a:r>
          </a:p>
        </p:txBody>
      </p:sp>
    </p:spTree>
    <p:extLst>
      <p:ext uri="{BB962C8B-B14F-4D97-AF65-F5344CB8AC3E}">
        <p14:creationId xmlns:p14="http://schemas.microsoft.com/office/powerpoint/2010/main" val="942599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DD521038-C51A-4E45-AEEF-E74351E4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網站把分析結果轉成四種可操作輸出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74913487-A4C4-4A6E-BC6D-3D1A7AD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cxnSp>
        <p:nvCxnSpPr>
          <p:cNvPr id="17" name="capability-rule-1"/>
          <p:cNvCxnSpPr/>
          <p:nvPr/>
        </p:nvCxnSpPr>
        <p:spPr>
          <a:xfrm xmlns:a="http://schemas.openxmlformats.org/drawingml/2006/main">
            <a:off x="400050" y="1905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8BCC4"/>
            </a:solidFill>
            <a:prstDash val="solid"/>
          </a:ln>
        </p:spPr>
      </p:cxnSp>
      <p:sp>
        <p:nvSpPr>
          <p:cNvPr id="4" name="capability-title-1">
            <a:extLst xmlns:a="http://schemas.openxmlformats.org/drawingml/2006/main">
              <a:ext uri="{FF2B5EF4-FFF2-40B4-BE49-F238E27FC236}">
                <a16:creationId xmlns:a16="http://schemas.microsoft.com/office/drawing/2014/main" id="{BD23668A-5826-41BE-83C3-5EC4D581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跨年度趨勢</a:t>
            </a:r>
          </a:p>
        </p:txBody>
      </p:sp>
      <p:sp>
        <p:nvSpPr>
          <p:cNvPr id="5" name="capability-body-1">
            <a:extLst xmlns:a="http://schemas.openxmlformats.org/drawingml/2006/main">
              <a:ext uri="{FF2B5EF4-FFF2-40B4-BE49-F238E27FC236}">
                <a16:creationId xmlns:a16="http://schemas.microsoft.com/office/drawing/2014/main" id="{ADFEA73B-557B-4246-A667-082B6872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以年份＋月份排序，查看高低用電、住房率、溫度與開館日。</a:t>
            </a:r>
          </a:p>
        </p:txBody>
      </p:sp>
      <p:cxnSp>
        <p:nvCxnSpPr>
          <p:cNvPr id="20" name="capability-rule-2"/>
          <p:cNvCxnSpPr/>
          <p:nvPr/>
        </p:nvCxnSpPr>
        <p:spPr>
          <a:xfrm xmlns:a="http://schemas.openxmlformats.org/drawingml/2006/main">
            <a:off x="6267450" y="1905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8BCC4"/>
            </a:solidFill>
            <a:prstDash val="solid"/>
          </a:ln>
        </p:spPr>
      </p:cxnSp>
      <p:sp>
        <p:nvSpPr>
          <p:cNvPr id="7" name="capability-title-2">
            <a:extLst xmlns:a="http://schemas.openxmlformats.org/drawingml/2006/main">
              <a:ext uri="{FF2B5EF4-FFF2-40B4-BE49-F238E27FC236}">
                <a16:creationId xmlns:a16="http://schemas.microsoft.com/office/drawing/2014/main" id="{CD2980CF-A4CF-42C6-AAF4-4EBB78A2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用途與節能情境</a:t>
            </a:r>
          </a:p>
        </p:txBody>
      </p:sp>
      <p:sp>
        <p:nvSpPr>
          <p:cNvPr id="8" name="capability-body-2">
            <a:extLst xmlns:a="http://schemas.openxmlformats.org/drawingml/2006/main">
              <a:ext uri="{FF2B5EF4-FFF2-40B4-BE49-F238E27FC236}">
                <a16:creationId xmlns:a16="http://schemas.microsoft.com/office/drawing/2014/main" id="{FA4ECD0B-81AC-420E-A7FA-EAD1D9B3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拆解基礎、照明、熱水、冷氣與其他用電，估算節電、節費及減碳。</a:t>
            </a:r>
          </a:p>
        </p:txBody>
      </p:sp>
      <p:cxnSp>
        <p:nvCxnSpPr>
          <p:cNvPr id="23" name="capability-rule-3"/>
          <p:cNvCxnSpPr/>
          <p:nvPr/>
        </p:nvCxnSpPr>
        <p:spPr>
          <a:xfrm xmlns:a="http://schemas.openxmlformats.org/drawingml/2006/main">
            <a:off x="400050" y="4048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8BCC4"/>
            </a:solidFill>
            <a:prstDash val="solid"/>
          </a:ln>
        </p:spPr>
      </p:cxnSp>
      <p:sp>
        <p:nvSpPr>
          <p:cNvPr id="10" name="capability-title-3">
            <a:extLst xmlns:a="http://schemas.openxmlformats.org/drawingml/2006/main">
              <a:ext uri="{FF2B5EF4-FFF2-40B4-BE49-F238E27FC236}">
                <a16:creationId xmlns:a16="http://schemas.microsoft.com/office/drawing/2014/main" id="{11BFFAEF-9121-4577-B0C6-6BAA0231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148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下月用電預測</a:t>
            </a:r>
          </a:p>
        </p:txBody>
      </p:sp>
      <p:sp>
        <p:nvSpPr>
          <p:cNvPr id="11" name="capability-body-3">
            <a:extLst xmlns:a="http://schemas.openxmlformats.org/drawingml/2006/main">
              <a:ext uri="{FF2B5EF4-FFF2-40B4-BE49-F238E27FC236}">
                <a16:creationId xmlns:a16="http://schemas.microsoft.com/office/drawing/2014/main" id="{9D253B49-C17D-4FA3-9E1C-69D174F6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呈現留一法指標、模型基準、預測參考範圍與外插提醒。</a:t>
            </a:r>
          </a:p>
        </p:txBody>
      </p:sp>
      <p:cxnSp>
        <p:nvCxnSpPr>
          <p:cNvPr id="26" name="capability-rule-4"/>
          <p:cNvCxnSpPr/>
          <p:nvPr/>
        </p:nvCxnSpPr>
        <p:spPr>
          <a:xfrm xmlns:a="http://schemas.openxmlformats.org/drawingml/2006/main">
            <a:off x="6267450" y="4048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757A6"/>
            </a:solidFill>
            <a:prstDash val="solid"/>
          </a:ln>
        </p:spPr>
      </p:cxnSp>
      <p:sp>
        <p:nvSpPr>
          <p:cNvPr id="13" name="capability-title-4">
            <a:extLst xmlns:a="http://schemas.openxmlformats.org/drawingml/2006/main">
              <a:ext uri="{FF2B5EF4-FFF2-40B4-BE49-F238E27FC236}">
                <a16:creationId xmlns:a16="http://schemas.microsoft.com/office/drawing/2014/main" id="{9556B47C-A3A5-49B6-BE3E-F26D9B2B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148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冷氣清冊排名</a:t>
            </a:r>
          </a:p>
        </p:txBody>
      </p:sp>
      <p:sp>
        <p:nvSpPr>
          <p:cNvPr id="14" name="capability-body-4">
            <a:extLst xmlns:a="http://schemas.openxmlformats.org/drawingml/2006/main">
              <a:ext uri="{FF2B5EF4-FFF2-40B4-BE49-F238E27FC236}">
                <a16:creationId xmlns:a16="http://schemas.microsoft.com/office/drawing/2014/main" id="{DC21A7B6-28D6-4A0A-ADFD-7E0EFB45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9675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批次輸出每組月耗電、故障機率、預期故障台數及維護建議。</a:t>
            </a:r>
          </a:p>
        </p:txBody>
      </p:sp>
    </p:spTree>
    <p:extLst>
      <p:ext uri="{BB962C8B-B14F-4D97-AF65-F5344CB8AC3E}">
        <p14:creationId xmlns:p14="http://schemas.microsoft.com/office/powerpoint/2010/main" val="17399128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487A3663-D709-4DC2-A4D9-60730C3F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研究誠信決定這個專題是否可信</a:t>
            </a:r>
          </a:p>
        </p:txBody>
      </p:sp>
      <p:sp>
        <p:nvSpPr>
          <p:cNvPr id="2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4E70C0E4-F559-4FF9-A383-8EA6FA13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cxnSp>
        <p:nvCxnSpPr>
          <p:cNvPr id="11" name="integrity-divider"/>
          <p:cNvCxnSpPr/>
          <p:nvPr/>
        </p:nvCxnSpPr>
        <p:spPr>
          <a:xfrm xmlns:a="http://schemas.openxmlformats.org/drawingml/2006/main">
            <a:off x="6096000" y="1666875"/>
            <a:ext cx="0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integrity-left-title">
            <a:extLst xmlns:a="http://schemas.openxmlformats.org/drawingml/2006/main">
              <a:ext uri="{FF2B5EF4-FFF2-40B4-BE49-F238E27FC236}">
                <a16:creationId xmlns:a16="http://schemas.microsoft.com/office/drawing/2014/main" id="{C17D0927-A98E-4D24-8B12-E8C7B269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目前可以證明</a:t>
            </a:r>
          </a:p>
        </p:txBody>
      </p:sp>
      <p:sp>
        <p:nvSpPr>
          <p:cNvPr id="5" name="integrity-left-bullets">
            <a:extLst xmlns:a="http://schemas.openxmlformats.org/drawingml/2006/main">
              <a:ext uri="{FF2B5EF4-FFF2-40B4-BE49-F238E27FC236}">
                <a16:creationId xmlns:a16="http://schemas.microsoft.com/office/drawing/2014/main" id="{0B2D74F5-19E3-45F4-B86A-A3CFD6FB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系統能讀取跨年度月資料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模型能產生留一法樣本外指標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完整工作簿能通過資料品質檢核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冷氣設備群組能產生風險排序</a:t>
            </a:r>
          </a:p>
        </p:txBody>
      </p:sp>
      <p:sp>
        <p:nvSpPr>
          <p:cNvPr id="6" name="integrity-right-title">
            <a:extLst xmlns:a="http://schemas.openxmlformats.org/drawingml/2006/main">
              <a:ext uri="{FF2B5EF4-FFF2-40B4-BE49-F238E27FC236}">
                <a16:creationId xmlns:a16="http://schemas.microsoft.com/office/drawing/2014/main" id="{41A297B8-C088-4544-926B-1E550171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目前不能宣稱</a:t>
            </a:r>
          </a:p>
        </p:txBody>
      </p:sp>
      <p:sp>
        <p:nvSpPr>
          <p:cNvPr id="7" name="integrity-right-bullets">
            <a:extLst xmlns:a="http://schemas.openxmlformats.org/drawingml/2006/main">
              <a:ext uri="{FF2B5EF4-FFF2-40B4-BE49-F238E27FC236}">
                <a16:creationId xmlns:a16="http://schemas.microsoft.com/office/drawing/2014/main" id="{60433919-5471-4E80-BA2A-123C1F66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05125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示範數值是淡江宿舍真實量測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情境節電等於實際節電成效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比例風險就是校內真實故障率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10 個月份足以代表其他年度</a:t>
            </a:r>
          </a:p>
        </p:txBody>
      </p:sp>
      <p:sp>
        <p:nvSpPr>
          <p:cNvPr id="8" name="integrity-bottom">
            <a:extLst xmlns:a="http://schemas.openxmlformats.org/drawingml/2006/main">
              <a:ext uri="{FF2B5EF4-FFF2-40B4-BE49-F238E27FC236}">
                <a16:creationId xmlns:a16="http://schemas.microsoft.com/office/drawing/2014/main" id="{E251BFE5-FB31-41A0-9F34-EA292516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正式結論需要：24–36 個月授權資料、設備銘牌、保養與故障標籤，以及時間序列驗證。</a:t>
            </a:r>
          </a:p>
        </p:txBody>
      </p:sp>
    </p:spTree>
    <p:extLst>
      <p:ext uri="{BB962C8B-B14F-4D97-AF65-F5344CB8AC3E}">
        <p14:creationId xmlns:p14="http://schemas.microsoft.com/office/powerpoint/2010/main" val="13590704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19911033-E301-438F-8F75-EE57323D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正式資料到位後，12 週可完成研究驗證與口試</a:t>
            </a:r>
          </a:p>
        </p:txBody>
      </p:sp>
      <p:sp>
        <p:nvSpPr>
          <p:cNvPr id="2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40C50185-B656-4234-AD5A-93C70C6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cxnSp>
        <p:nvCxnSpPr>
          <p:cNvPr id="18" name="roadmap-line"/>
          <p:cNvCxnSpPr/>
          <p:nvPr/>
        </p:nvCxnSpPr>
        <p:spPr>
          <a:xfrm xmlns:a="http://schemas.openxmlformats.org/drawingml/2006/main">
            <a:off x="400050" y="3333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4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27D5376E-D390-4EE7-B5F1-52521BE9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6905F424-A8DE-411F-9B5B-64E8549D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第 1–4 週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C64822CB-5350-4A2A-A97E-BADCE157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取得與清理資料</a:t>
            </a:r>
          </a:p>
        </p:txBody>
      </p:sp>
      <p:sp>
        <p:nvSpPr>
          <p:cNvPr id="7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7E18EF9D-C30C-4741-9D5A-84106644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確認授權、欄位、來源與量測期間；替換工作簿示範列。</a:t>
            </a:r>
          </a:p>
        </p:txBody>
      </p:sp>
      <p:sp>
        <p:nvSpPr>
          <p:cNvPr id="8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36FCB03A-E861-4110-B482-87D3E1A6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43B19577-A168-4F74-BB61-DE4820F5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第 5–8 週</a:t>
            </a:r>
          </a:p>
        </p:txBody>
      </p:sp>
      <p:sp>
        <p:nvSpPr>
          <p:cNvPr id="10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5BB27192-6ECD-44DC-9591-D158258E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57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重跑與驗證模型</a:t>
            </a:r>
          </a:p>
        </p:txBody>
      </p:sp>
      <p:sp>
        <p:nvSpPr>
          <p:cNvPr id="11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84A65F97-A09F-4553-888B-CD2CA345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14875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加入時間序列切分、季節基準與實際故障標籤校準。</a:t>
            </a:r>
          </a:p>
        </p:txBody>
      </p:sp>
      <p:sp>
        <p:nvSpPr>
          <p:cNvPr id="12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D83B656B-8C7F-4200-87E6-A4DC7D90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admap-label-3">
            <a:extLst xmlns:a="http://schemas.openxmlformats.org/drawingml/2006/main">
              <a:ext uri="{FF2B5EF4-FFF2-40B4-BE49-F238E27FC236}">
                <a16:creationId xmlns:a16="http://schemas.microsoft.com/office/drawing/2014/main" id="{14C453C7-0D5B-437E-A75E-F0D7A8BE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第 9–12 週</a:t>
            </a:r>
          </a:p>
        </p:txBody>
      </p:sp>
      <p:sp>
        <p:nvSpPr>
          <p:cNvPr id="14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64714968-4BCC-4165-A370-C7B0E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整合成果與口試</a:t>
            </a:r>
          </a:p>
        </p:txBody>
      </p:sp>
      <p:sp>
        <p:nvSpPr>
          <p:cNvPr id="15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30490399-4FB0-45F3-8E0C-77797084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14875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訪談機電人員、更新報告圖表、演練 3 分鐘展示與問答。</a:t>
            </a:r>
          </a:p>
        </p:txBody>
      </p:sp>
    </p:spTree>
    <p:extLst>
      <p:ext uri="{BB962C8B-B14F-4D97-AF65-F5344CB8AC3E}">
        <p14:creationId xmlns:p14="http://schemas.microsoft.com/office/powerpoint/2010/main" val="18013150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clusion-eyebrow">
            <a:extLst xmlns:a="http://schemas.openxmlformats.org/drawingml/2006/main">
              <a:ext uri="{FF2B5EF4-FFF2-40B4-BE49-F238E27FC236}">
                <a16:creationId xmlns:a16="http://schemas.microsoft.com/office/drawing/2014/main" id="{7D26F96D-54C5-4DA6-8970-16D3CA98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" name="conclusion-message">
            <a:extLst xmlns:a="http://schemas.openxmlformats.org/drawingml/2006/main">
              <a:ext uri="{FF2B5EF4-FFF2-40B4-BE49-F238E27FC236}">
                <a16:creationId xmlns:a16="http://schemas.microsoft.com/office/drawing/2014/main" id="{C05C7E81-E716-4392-AAB9-AA8485BC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04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讓宿舍用電從「看總量」進入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5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「可解釋、可驗證、可行動」</a:t>
            </a:r>
          </a:p>
        </p:txBody>
      </p:sp>
      <p:sp>
        <p:nvSpPr>
          <p:cNvPr id="3" name="conclusion-points">
            <a:extLst xmlns:a="http://schemas.openxmlformats.org/drawingml/2006/main">
              <a:ext uri="{FF2B5EF4-FFF2-40B4-BE49-F238E27FC236}">
                <a16:creationId xmlns:a16="http://schemas.microsoft.com/office/drawing/2014/main" id="{57468334-8180-4ECE-841D-8347012D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跨年度資料整合｜樣本外模型驗證｜冷氣設備清冊排名</a:t>
            </a:r>
          </a:p>
        </p:txBody>
      </p:sp>
      <p:sp>
        <p:nvSpPr>
          <p:cNvPr id="4" name="conclusion-qa">
            <a:extLst xmlns:a="http://schemas.openxmlformats.org/drawingml/2006/main">
              <a:ext uri="{FF2B5EF4-FFF2-40B4-BE49-F238E27FC236}">
                <a16:creationId xmlns:a16="http://schemas.microsoft.com/office/drawing/2014/main" id="{EAA50C8E-0CFC-4F13-808C-DD54F784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96047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2026-08-11T17:40:14.6000000Z</dcterms:created>
  <dcterms:modified xsi:type="dcterms:W3CDTF">2026-08-11T17:40:14.6000000Z</dcterms:modified>
</coreProperties>
</file>