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9c8d7cefd34095" /><Relationship Type="http://schemas.openxmlformats.org/officeDocument/2006/relationships/extended-properties" Target="/docProps/app.xml" Id="R9c6c628f9dbd4443" /><Relationship Type="http://schemas.openxmlformats.org/officeDocument/2006/relationships/officeDocument" Target="/ppt/presentation.xml" Id="R3e7b7114ee1144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630749e6e64518"/>
  </p:sldMasterIdLst>
  <p:notesMasterIdLst>
    <p:notesMasterId xmlns:r="http://schemas.openxmlformats.org/officeDocument/2006/relationships" r:id="R645a0b8be0534185"/>
  </p:notesMasterIdLst>
  <p:sldIdLst>
    <p:sldId xmlns:r="http://schemas.openxmlformats.org/officeDocument/2006/relationships" id="256" r:id="Re33347b214a946da"/>
    <p:sldId xmlns:r="http://schemas.openxmlformats.org/officeDocument/2006/relationships" id="257" r:id="Rb27acf72154e4646"/>
    <p:sldId xmlns:r="http://schemas.openxmlformats.org/officeDocument/2006/relationships" id="258" r:id="R2be7a0570ed846e3"/>
    <p:sldId xmlns:r="http://schemas.openxmlformats.org/officeDocument/2006/relationships" id="259" r:id="Re10da2da7d144559"/>
    <p:sldId xmlns:r="http://schemas.openxmlformats.org/officeDocument/2006/relationships" id="260" r:id="Re6c6403f63cd4716"/>
    <p:sldId xmlns:r="http://schemas.openxmlformats.org/officeDocument/2006/relationships" id="261" r:id="R1b4f5bd99d6c4a26"/>
    <p:sldId xmlns:r="http://schemas.openxmlformats.org/officeDocument/2006/relationships" id="262" r:id="R1a920e9220fc44bc"/>
    <p:sldId xmlns:r="http://schemas.openxmlformats.org/officeDocument/2006/relationships" id="263" r:id="R3dae90ac99404722"/>
    <p:sldId xmlns:r="http://schemas.openxmlformats.org/officeDocument/2006/relationships" id="264" r:id="R47f8fd282d3f45ad"/>
    <p:sldId xmlns:r="http://schemas.openxmlformats.org/officeDocument/2006/relationships" id="265" r:id="Ra4dfcbefadd14462"/>
    <p:sldId xmlns:r="http://schemas.openxmlformats.org/officeDocument/2006/relationships" id="266" r:id="R61c8ffe3ea324d3f"/>
    <p:sldId xmlns:r="http://schemas.openxmlformats.org/officeDocument/2006/relationships" id="267" r:id="R0f0e80f7331343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e03c5e6d46453a" /><Relationship Type="http://schemas.openxmlformats.org/officeDocument/2006/relationships/slideMaster" Target="/ppt/slideMasters/slideMaster1.xml" Id="R15630749e6e64518" /><Relationship Type="http://schemas.openxmlformats.org/officeDocument/2006/relationships/notesMaster" Target="/ppt/notesMasters/notesMaster1.xml" Id="R645a0b8be0534185" /><Relationship Type="http://schemas.openxmlformats.org/officeDocument/2006/relationships/presProps" Target="/ppt/presProps.xml" Id="Rccdfa26e28724174" /><Relationship Type="http://schemas.openxmlformats.org/officeDocument/2006/relationships/tableStyles" Target="/ppt/tableStyles.xml" Id="R74675b2f60c94d9e" /><Relationship Type="http://schemas.openxmlformats.org/officeDocument/2006/relationships/slide" Target="/ppt/slides/slide1.xml" Id="Re33347b214a946da" /><Relationship Type="http://schemas.openxmlformats.org/officeDocument/2006/relationships/slide" Target="/ppt/slides/slide2.xml" Id="Rb27acf72154e4646" /><Relationship Type="http://schemas.openxmlformats.org/officeDocument/2006/relationships/slide" Target="/ppt/slides/slide3.xml" Id="R2be7a0570ed846e3" /><Relationship Type="http://schemas.openxmlformats.org/officeDocument/2006/relationships/slide" Target="/ppt/slides/slide4.xml" Id="Re10da2da7d144559" /><Relationship Type="http://schemas.openxmlformats.org/officeDocument/2006/relationships/slide" Target="/ppt/slides/slide5.xml" Id="Re6c6403f63cd4716" /><Relationship Type="http://schemas.openxmlformats.org/officeDocument/2006/relationships/slide" Target="/ppt/slides/slide6.xml" Id="R1b4f5bd99d6c4a26" /><Relationship Type="http://schemas.openxmlformats.org/officeDocument/2006/relationships/slide" Target="/ppt/slides/slide7.xml" Id="R1a920e9220fc44bc" /><Relationship Type="http://schemas.openxmlformats.org/officeDocument/2006/relationships/slide" Target="/ppt/slides/slide8.xml" Id="R3dae90ac99404722" /><Relationship Type="http://schemas.openxmlformats.org/officeDocument/2006/relationships/slide" Target="/ppt/slides/slide9.xml" Id="R47f8fd282d3f45ad" /><Relationship Type="http://schemas.openxmlformats.org/officeDocument/2006/relationships/slide" Target="/ppt/slides/slide10.xml" Id="Ra4dfcbefadd14462" /><Relationship Type="http://schemas.openxmlformats.org/officeDocument/2006/relationships/slide" Target="/ppt/slides/slide11.xml" Id="R61c8ffe3ea324d3f" /><Relationship Type="http://schemas.openxmlformats.org/officeDocument/2006/relationships/slide" Target="/ppt/slides/slide12.xml" Id="R0f0e80f7331343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50f4e6fa1e48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0509153d404731" /><Relationship Type="http://schemas.openxmlformats.org/officeDocument/2006/relationships/notesMaster" Target="/ppt/notesMasters/notesMaster1.xml" Id="R80ee821c028d41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722e2c60ea4a8a" /><Relationship Type="http://schemas.openxmlformats.org/officeDocument/2006/relationships/notesMaster" Target="/ppt/notesMasters/notesMaster1.xml" Id="R70abee3acfd844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6f03ea84664a7c" /><Relationship Type="http://schemas.openxmlformats.org/officeDocument/2006/relationships/notesMaster" Target="/ppt/notesMasters/notesMaster1.xml" Id="Re6d04d60f6c64a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ffb9fe426341df" /><Relationship Type="http://schemas.openxmlformats.org/officeDocument/2006/relationships/notesMaster" Target="/ppt/notesMasters/notesMaster1.xml" Id="R54670653819647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f9577b14234ba1" /><Relationship Type="http://schemas.openxmlformats.org/officeDocument/2006/relationships/notesMaster" Target="/ppt/notesMasters/notesMaster1.xml" Id="R64f26a48d9c14a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a384b51b8b4d02" /><Relationship Type="http://schemas.openxmlformats.org/officeDocument/2006/relationships/notesMaster" Target="/ppt/notesMasters/notesMaster1.xml" Id="Rb91d2f2e915a4ff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4955a815974e9d" /><Relationship Type="http://schemas.openxmlformats.org/officeDocument/2006/relationships/notesMaster" Target="/ppt/notesMasters/notesMaster1.xml" Id="R9472324e8e214c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84ce6694d1473d" /><Relationship Type="http://schemas.openxmlformats.org/officeDocument/2006/relationships/notesMaster" Target="/ppt/notesMasters/notesMaster1.xml" Id="R7fa3c3df937041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d1cc5fa23e243c2" /><Relationship Type="http://schemas.openxmlformats.org/officeDocument/2006/relationships/notesMaster" Target="/ppt/notesMasters/notesMaster1.xml" Id="Rb67b418d698046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227c9f02ec1471d" /><Relationship Type="http://schemas.openxmlformats.org/officeDocument/2006/relationships/notesMaster" Target="/ppt/notesMasters/notesMaster1.xml" Id="R41c8754bdc8642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aff72dc90504d46" /><Relationship Type="http://schemas.openxmlformats.org/officeDocument/2006/relationships/notesMaster" Target="/ppt/notesMasters/notesMaster1.xml" Id="R1e45abcc3c2348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afcc13e6034f47" /><Relationship Type="http://schemas.openxmlformats.org/officeDocument/2006/relationships/notesMaster" Target="/ppt/notesMasters/notesMaster1.xml" Id="Rbc9703e58bfe42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先用一句話說明：本專題把用電、住宿、氣候與冷氣維護資料整合成可操作的決策系統。再補上自己的系所、姓名、學號與指導教授。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本專題 GitHub：https://github.com/Littleyuyu1221/tku-electricity</a:t>
            </a:r>
          </a:p>
          <a:p xmlns:a="http://schemas.openxmlformats.org/drawingml/2006/main">
            <a:r>
              <a:t>- 線上系統：https://tku-electricity-1229.streamlit.app/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先說管理上的痛點，再說本專題不是只做圖表，而是把資料檢核、模型驗證與設備維護串起來。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outputs/大四專題報告.docx，第 1 章與第 3 章</a:t>
            </a:r>
          </a:p>
          <a:p xmlns:a="http://schemas.openxmlformats.org/drawingml/2006/main">
            <a:r>
              <a:t>- outputs/app.py，資料檢核與六個功能頁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把三個問題依序講成：先了解原因，再驗證預測，最後轉成設備管理行動。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outputs/大四專題報告.docx，第 1.3 節研究問題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用這張圖說明資料流，不必逐行解釋程式。強調所有結果都先通過格式與合理性檢查。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outputs/app.py，read_upload、資料檢核、build_energy_model、estimate_ac_operation</a:t>
            </a:r>
          </a:p>
          <a:p xmlns:a="http://schemas.openxmlformats.org/drawingml/2006/main">
            <a:r>
              <a:t>- outputs/宿舍用電與冷氣資料蒐集範本.xlsx，品質檢核工作表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說明最低需要月用電、住宿、開館與氣溫；冷氣清冊和事件紀錄是把展示模型變成正式研究模型的關鍵。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outputs/宿舍用電與冷氣資料蒐集範本.xlsx</a:t>
            </a:r>
          </a:p>
          <a:p xmlns:a="http://schemas.openxmlformats.org/drawingml/2006/main">
            <a:r>
              <a:t>- outputs/資料蒐集與驗收清單.md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這張圖只用來示範系統如何辨識學期與低住宿月份。明確說出資料是內建示範值，不能當成淡江宿舍實際用電。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outputs/宿舍用電資料範本.csv，2024 年 12 個月示範資料</a:t>
            </a:r>
          </a:p>
          <a:p xmlns:a="http://schemas.openxmlformats.org/drawingml/2006/main">
            <a:r>
              <a:t>- outputs/app.py，快速看懂用電頁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先說所有指標都來自留一法，不是訓練分數。再解釋 62.3% 是相對於同樣留一切分的其餘月份平均值。最後提醒只有 10 個有效月份。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outputs/app.py，build_energy_model</a:t>
            </a:r>
          </a:p>
          <a:p xmlns:a="http://schemas.openxmlformats.org/drawingml/2006/main">
            <a:r>
              <a:t>- outputs/宿舍用電資料範本.csv</a:t>
            </a:r>
          </a:p>
          <a:p xmlns:a="http://schemas.openxmlformats.org/drawingml/2006/main">
            <a:r>
              <a:t>- Hoerl &amp; Kennard (1970)：https://doi.org/10.1080/00401706.1970.10488634</a:t>
            </a:r>
          </a:p>
          <a:p xmlns:a="http://schemas.openxmlformats.org/drawingml/2006/main">
            <a:r>
              <a:t>- scikit-learn LeaveOneOut：https://scikit-learn.org/stable/modules/generated/sklearn.model_selection.LeaveOneOut.html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說明耗電公式會考慮台數、功率、部分負載、溫差、時段使用率與天數。故障率是工程比例風險情境，正式研究必須用校內故障標籤重新校準。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outputs/app.py，estimate_ac_operation 與 classify_ac_risk</a:t>
            </a:r>
          </a:p>
          <a:p xmlns:a="http://schemas.openxmlformats.org/drawingml/2006/main">
            <a:r>
              <a:t>- outputs/宿舍用電與冷氣資料蒐集範本.xlsx，冷氣設備清冊</a:t>
            </a:r>
          </a:p>
          <a:p xmlns:a="http://schemas.openxmlformats.org/drawingml/2006/main">
            <a:r>
              <a:t>- Cox (1972)：https://doi.org/10.1111/j.2517-6161.1972.tb00899.x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指出這三張都是線上部署版本的實際畫面。由左至右說明：首頁先建立用電全貌；預測頁同時揭露樣本外指標與不確定性；冷氣頁把分時耗電與故障風險轉成維護排序。若現場網路不穩，可直接使用本頁完成展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線上系統：https://tku-electricity-1229.streamlit.app/</a:t>
            </a:r>
          </a:p>
          <a:p xmlns:a="http://schemas.openxmlformats.org/drawingml/2006/main">
            <a:r>
              <a:t>- outputs/預覽-首頁.png</a:t>
            </a:r>
          </a:p>
          <a:p xmlns:a="http://schemas.openxmlformats.org/drawingml/2006/main">
            <a:r>
              <a:t>- outputs/預覽-用電預測.png</a:t>
            </a:r>
          </a:p>
          <a:p xmlns:a="http://schemas.openxmlformats.org/drawingml/2006/main">
            <a:r>
              <a:t>- outputs/預覽-冷氣風險.png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這張是口試的重要防守頁。主動說明限制，反而能證明你理解模型有效性與研究倫理。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outputs/大四專題報告.docx，第 7 章與第 8 章</a:t>
            </a:r>
          </a:p>
          <a:p xmlns:a="http://schemas.openxmlformats.org/drawingml/2006/main">
            <a:r>
              <a:t>- outputs/資料蒐集與驗收清單.md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若老師問下一步，不要回答再加圖表；回答先取得正式資料、用時間切分驗證，再讓機電人員檢查高風險設備名單。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outputs/資料蒐集與驗收清單.md，建議專題時程</a:t>
            </a:r>
          </a:p>
          <a:p xmlns:a="http://schemas.openxmlformats.org/drawingml/2006/main">
            <a:r>
              <a:t>- outputs/大四專題報告.docx，第 8.2 節未來工作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最後重申貢獻不是某個單一分數，而是建立一條可重複、可驗證、能轉成管理行動的資料流程。接著進入問答。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outputs/大四專題報告.docx，第 8.1 節結論</a:t>
            </a:r>
          </a:p>
          <a:p xmlns:a="http://schemas.openxmlformats.org/drawingml/2006/main">
            <a:r>
              <a:t>- 線上系統：https://tku-electricity-1229.streamlit.app/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3b646326f148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0a2da284a84938" /><Relationship Type="http://schemas.openxmlformats.org/officeDocument/2006/relationships/slideLayout" Target="/ppt/slideLayouts/slideLayout1.xml" Id="R6833aa1ebdf346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33aa1ebdf346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6924a61314df2" /><Relationship Type="http://schemas.openxmlformats.org/officeDocument/2006/relationships/notesSlide" Target="/ppt/notesSlides/notesSlide1.xml" Id="R25f4bcd414e84b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d811bbc6940d9" /><Relationship Type="http://schemas.openxmlformats.org/officeDocument/2006/relationships/notesSlide" Target="/ppt/notesSlides/notesSlide2.xml" Id="Rf7f2ac22a83f45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0bc9247c31455f" /><Relationship Type="http://schemas.openxmlformats.org/officeDocument/2006/relationships/notesSlide" Target="/ppt/notesSlides/notesSlide3.xml" Id="R60d2073aff9242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1cfd9825794bac" /><Relationship Type="http://schemas.openxmlformats.org/officeDocument/2006/relationships/notesSlide" Target="/ppt/notesSlides/notesSlide4.xml" Id="Rf26d17c3218d4d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825ea70614a4f" /><Relationship Type="http://schemas.openxmlformats.org/officeDocument/2006/relationships/notesSlide" Target="/ppt/notesSlides/notesSlide5.xml" Id="R1608f5f64bdc4e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936823cc5b45c5" /><Relationship Type="http://schemas.openxmlformats.org/officeDocument/2006/relationships/chart" Target="/ppt/slides/charts/chart1.xml" Id="R277fec8e07d34775" /><Relationship Type="http://schemas.openxmlformats.org/officeDocument/2006/relationships/notesSlide" Target="/ppt/notesSlides/notesSlide6.xml" Id="R7666b77e7ec042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c7e570118d4358" /><Relationship Type="http://schemas.openxmlformats.org/officeDocument/2006/relationships/chart" Target="/ppt/slides/charts/chart2.xml" Id="R56276e89d9bf4ce7" /><Relationship Type="http://schemas.openxmlformats.org/officeDocument/2006/relationships/notesSlide" Target="/ppt/notesSlides/notesSlide7.xml" Id="Rf9ffe629827145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c24037c8e46d9" /><Relationship Type="http://schemas.openxmlformats.org/officeDocument/2006/relationships/chart" Target="/ppt/slides/charts/chart3.xml" Id="R2f7cdcb0760c447a" /><Relationship Type="http://schemas.openxmlformats.org/officeDocument/2006/relationships/notesSlide" Target="/ppt/notesSlides/notesSlide8.xml" Id="R589bcd63266c40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c5725581e41eb" /><Relationship Type="http://schemas.openxmlformats.org/officeDocument/2006/relationships/image" Target="/ppt/media/image.jpeg" Id="Rf8a7a8f747d14587" /><Relationship Type="http://schemas.openxmlformats.org/officeDocument/2006/relationships/image" Target="/ppt/media/image2.jpeg" Id="R88f653f08bc24b2e" /><Relationship Type="http://schemas.openxmlformats.org/officeDocument/2006/relationships/image" Target="/ppt/media/image3.jpeg" Id="R4556f32779944192" /><Relationship Type="http://schemas.openxmlformats.org/officeDocument/2006/relationships/notesSlide" Target="/ppt/notesSlides/notesSlide9.xml" Id="R8f8b8dc656e14d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10df84373b4291" /><Relationship Type="http://schemas.openxmlformats.org/officeDocument/2006/relationships/notesSlide" Target="/ppt/notesSlides/notesSlide10.xml" Id="R5bb5655719c8442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45c313e15a4c53" /><Relationship Type="http://schemas.openxmlformats.org/officeDocument/2006/relationships/notesSlide" Target="/ppt/notesSlides/notesSlide11.xml" Id="R8ada64c231574c4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d573763afb4201" /><Relationship Type="http://schemas.openxmlformats.org/officeDocument/2006/relationships/notesSlide" Target="/ppt/notesSlides/notesSlide12.xml" Id="Re01901bcae6540c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總用電</c:v>
          </c:tx>
          <c:spPr>
            <a:solidFill xmlns:a="http://schemas.openxmlformats.org/drawingml/2006/main">
              <a:srgbClr val="0757A6"/>
            </a:solidFill>
          </c:spPr>
          <c:cat>
            <c:numLit>
              <c:formatCode>General</c:formatCode>
              <c:ptCount val="12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  <c:pt idx="9">
                <c:v>10</c:v>
              </c:pt>
              <c:pt idx="10">
                <c:v>11</c:v>
              </c:pt>
              <c:pt idx="11">
                <c:v>12</c:v>
              </c:pt>
            </c:numLit>
          </c:cat>
          <c:val>
            <c:numLit>
              <c:formatCode>#,##0</c:formatCode>
              <c:ptCount val="12"/>
              <c:pt idx="0">
                <c:v>19521</c:v>
              </c:pt>
              <c:pt idx="1">
                <c:v>17634</c:v>
              </c:pt>
              <c:pt idx="2">
                <c:v>45606</c:v>
              </c:pt>
              <c:pt idx="3">
                <c:v>42192</c:v>
              </c:pt>
              <c:pt idx="4">
                <c:v>50989</c:v>
              </c:pt>
              <c:pt idx="5">
                <c:v>41913</c:v>
              </c:pt>
              <c:pt idx="6">
                <c:v>4682</c:v>
              </c:pt>
              <c:pt idx="7">
                <c:v>5681</c:v>
              </c:pt>
              <c:pt idx="8">
                <c:v>48200</c:v>
              </c:pt>
              <c:pt idx="9">
                <c:v>46000</c:v>
              </c:pt>
              <c:pt idx="10">
                <c:v>44000</c:v>
              </c:pt>
              <c:pt idx="11">
                <c:v>49000</c:v>
              </c:pt>
            </c:numLit>
          </c:val>
        </c:ser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月份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6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用電量（kWh）</a:t>
                </a:r>
              </a:p>
            </c:rich>
          </c:tx>
          <c:overlay val="0"/>
        </c:title>
        <c:numFmt formatCode="#,##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1000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實際</c:v>
          </c:tx>
          <c:spPr>
            <a:ln xmlns:a="http://schemas.openxmlformats.org/drawingml/2006/main" w="38100">
              <a:solidFill>
                <a:srgbClr val="0757A6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0757A6"/>
              </a:solidFill>
            </c:spPr>
          </c:marker>
          <c:cat>
            <c:numLit>
              <c:formatCode>General</c:formatCode>
              <c:ptCount val="10"/>
              <c:pt idx="0">
                <c:v>01</c:v>
              </c:pt>
              <c:pt idx="1">
                <c:v>02</c:v>
              </c:pt>
              <c:pt idx="2">
                <c:v>03</c:v>
              </c:pt>
              <c:pt idx="3">
                <c:v>04</c:v>
              </c:pt>
              <c:pt idx="4">
                <c:v>05</c:v>
              </c:pt>
              <c:pt idx="5">
                <c:v>06</c:v>
              </c:pt>
              <c:pt idx="6">
                <c:v>09</c:v>
              </c:pt>
              <c:pt idx="7">
                <c:v>10</c:v>
              </c:pt>
              <c:pt idx="8">
                <c:v>11</c:v>
              </c:pt>
              <c:pt idx="9">
                <c:v>12</c:v>
              </c:pt>
            </c:numLit>
          </c:cat>
          <c:val>
            <c:numLit>
              <c:formatCode>#,##0</c:formatCode>
              <c:ptCount val="10"/>
              <c:pt idx="0">
                <c:v>19521</c:v>
              </c:pt>
              <c:pt idx="1">
                <c:v>17634</c:v>
              </c:pt>
              <c:pt idx="2">
                <c:v>45606</c:v>
              </c:pt>
              <c:pt idx="3">
                <c:v>42192</c:v>
              </c:pt>
              <c:pt idx="4">
                <c:v>50989</c:v>
              </c:pt>
              <c:pt idx="5">
                <c:v>41913</c:v>
              </c:pt>
              <c:pt idx="6">
                <c:v>48200</c:v>
              </c:pt>
              <c:pt idx="7">
                <c:v>46000</c:v>
              </c:pt>
              <c:pt idx="8">
                <c:v>44000</c:v>
              </c:pt>
              <c:pt idx="9">
                <c:v>49000</c:v>
              </c:pt>
            </c:numLit>
          </c:val>
        </c:ser>
        <c:ser>
          <c:idx val="1"/>
          <c:order val="1"/>
          <c:tx>
            <c:v>留一法預測</c:v>
          </c:tx>
          <c:spPr>
            <a:ln xmlns:a="http://schemas.openxmlformats.org/drawingml/2006/main" w="28575">
              <a:solidFill>
                <a:srgbClr val="D76800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D76800"/>
              </a:solidFill>
            </c:spPr>
          </c:marker>
          <c:cat>
            <c:numLit>
              <c:formatCode>General</c:formatCode>
              <c:ptCount val="10"/>
              <c:pt idx="0">
                <c:v>01</c:v>
              </c:pt>
              <c:pt idx="1">
                <c:v>02</c:v>
              </c:pt>
              <c:pt idx="2">
                <c:v>03</c:v>
              </c:pt>
              <c:pt idx="3">
                <c:v>04</c:v>
              </c:pt>
              <c:pt idx="4">
                <c:v>05</c:v>
              </c:pt>
              <c:pt idx="5">
                <c:v>06</c:v>
              </c:pt>
              <c:pt idx="6">
                <c:v>09</c:v>
              </c:pt>
              <c:pt idx="7">
                <c:v>10</c:v>
              </c:pt>
              <c:pt idx="8">
                <c:v>11</c:v>
              </c:pt>
              <c:pt idx="9">
                <c:v>12</c:v>
              </c:pt>
            </c:numLit>
          </c:cat>
          <c:val>
            <c:numLit>
              <c:formatCode>#,##0</c:formatCode>
              <c:ptCount val="10"/>
              <c:pt idx="0">
                <c:v>31827</c:v>
              </c:pt>
              <c:pt idx="1">
                <c:v>16114</c:v>
              </c:pt>
              <c:pt idx="2">
                <c:v>45362</c:v>
              </c:pt>
              <c:pt idx="3">
                <c:v>44274</c:v>
              </c:pt>
              <c:pt idx="4">
                <c:v>47446</c:v>
              </c:pt>
              <c:pt idx="5">
                <c:v>45932</c:v>
              </c:pt>
              <c:pt idx="6">
                <c:v>42803</c:v>
              </c:pt>
              <c:pt idx="7">
                <c:v>48614</c:v>
              </c:pt>
              <c:pt idx="8">
                <c:v>43534</c:v>
              </c:pt>
              <c:pt idx="9">
                <c:v>44457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月份（2024）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6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用電量（kWh）</a:t>
                </a:r>
              </a:p>
            </c:rich>
          </c:tx>
          <c:overlay val="0"/>
        </c:title>
        <c:numFmt formatCode="#,##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1000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111111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月耗電</c:v>
          </c:tx>
          <c:spPr>
            <a:solidFill xmlns:a="http://schemas.openxmlformats.org/drawingml/2006/main">
              <a:srgbClr val="0757A6"/>
            </a:solidFill>
          </c:spPr>
          <c:cat>
            <c:strLit>
              <c:ptCount val="4"/>
              <c:pt idx="0">
                <c:v>00–06</c:v>
              </c:pt>
              <c:pt idx="1">
                <c:v>06–12</c:v>
              </c:pt>
              <c:pt idx="2">
                <c:v>12–18</c:v>
              </c:pt>
              <c:pt idx="3">
                <c:v>18–24</c:v>
              </c:pt>
            </c:strLit>
          </c:cat>
          <c:val>
            <c:numLit>
              <c:formatCode>#,##0</c:formatCode>
              <c:ptCount val="4"/>
              <c:pt idx="0">
                <c:v>1514</c:v>
              </c:pt>
              <c:pt idx="1">
                <c:v>433</c:v>
              </c:pt>
              <c:pt idx="2">
                <c:v>1552</c:v>
              </c:pt>
              <c:pt idx="3">
                <c:v>1838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11111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2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月耗電（kWh）</a:t>
                </a:r>
              </a:p>
            </c:rich>
          </c:tx>
          <c:overlay val="0"/>
        </c:title>
        <c:numFmt formatCode="#,##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50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FA024B30-C0B7-4384-81E5-8EC0BBFA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0525"/>
            <a:ext cx="619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淡江大學｜大四專題口試</a:t>
            </a:r>
          </a:p>
        </p:txBody>
      </p:sp>
      <p:sp>
        <p:nvSpPr>
          <p:cNvPr id="2" name="cover-year">
            <a:extLst xmlns:a="http://schemas.openxmlformats.org/drawingml/2006/main">
              <a:ext uri="{FF2B5EF4-FFF2-40B4-BE49-F238E27FC236}">
                <a16:creationId xmlns:a16="http://schemas.microsoft.com/office/drawing/2014/main" id="{1B6E97B0-FE4E-4B37-BF24-1C96B66D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0525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2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2026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056D88F-59AD-48AC-896E-6C957D10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33625"/>
            <a:ext cx="10668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校園宿舍用電分析、預測與</a:t>
            </a:r>
          </a:p>
          <a:p xmlns:a="http://schemas.openxmlformats.org/drawingml/2006/main">
            <a:pPr algn="l">
              <a:defRPr sz="5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冷氣故障風險系統</a:t>
            </a:r>
          </a:p>
        </p:txBody>
      </p:sp>
      <p:sp>
        <p:nvSpPr>
          <p:cNvPr id="4" name="cover-meta">
            <a:extLst xmlns:a="http://schemas.openxmlformats.org/drawingml/2006/main">
              <a:ext uri="{FF2B5EF4-FFF2-40B4-BE49-F238E27FC236}">
                <a16:creationId xmlns:a16="http://schemas.microsoft.com/office/drawing/2014/main" id="{33FEBEF5-9C6F-4618-9107-2D1C9C07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8102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學生：＿＿＿＿＿＿　指導教授：＿＿＿＿＿＿</a:t>
            </a:r>
          </a:p>
        </p:txBody>
      </p:sp>
    </p:spTree>
    <p:extLst>
      <p:ext uri="{BB962C8B-B14F-4D97-AF65-F5344CB8AC3E}">
        <p14:creationId xmlns:p14="http://schemas.microsoft.com/office/powerpoint/2010/main" val="4140919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583A3E48-1971-4A4D-A830-1D4E67F9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宿舍用電不能只看帳單總額</a:t>
            </a:r>
          </a:p>
        </p:txBody>
      </p:sp>
      <p:sp>
        <p:nvSpPr>
          <p:cNvPr id="2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E807193F-8155-4A18-9B75-D68F9E30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ADEE26ED-2AB1-49BD-8B63-B24F3CFF1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13919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同樣的月用電，可能來自住宿人數增加、開館時間變長、氣溫升高，或設備效率下降；若沒有把資料放在一起，管理者無法判斷原因。</a:t>
            </a:r>
          </a:p>
        </p:txBody>
      </p:sp>
      <p:sp>
        <p:nvSpPr>
          <p:cNvPr id="4" name="problem-panel">
            <a:extLst xmlns:a="http://schemas.openxmlformats.org/drawingml/2006/main">
              <a:ext uri="{FF2B5EF4-FFF2-40B4-BE49-F238E27FC236}">
                <a16:creationId xmlns:a16="http://schemas.microsoft.com/office/drawing/2014/main" id="{67FC50FC-264C-4F5B-8C9B-8F36D5FD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0"/>
            <a:ext cx="5524500" cy="14478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olution-panel">
            <a:extLst xmlns:a="http://schemas.openxmlformats.org/drawingml/2006/main">
              <a:ext uri="{FF2B5EF4-FFF2-40B4-BE49-F238E27FC236}">
                <a16:creationId xmlns:a16="http://schemas.microsoft.com/office/drawing/2014/main" id="{DAF2B3F9-3754-437F-893A-D9727307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5524500" cy="14478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2F7FF"/>
          </a:solidFill>
          <a:ln xmlns:a="http://schemas.openxmlformats.org/drawingml/2006/main" w="9525">
            <a:solidFill>
              <a:srgbClr val="D8E9FF"/>
            </a:solidFill>
            <a:prstDash val="solid"/>
          </a:ln>
        </p:spPr>
      </p:sp>
      <p:sp>
        <p:nvSpPr>
          <p:cNvPr id="6" name="problem-panel-title">
            <a:extLst xmlns:a="http://schemas.openxmlformats.org/drawingml/2006/main">
              <a:ext uri="{FF2B5EF4-FFF2-40B4-BE49-F238E27FC236}">
                <a16:creationId xmlns:a16="http://schemas.microsoft.com/office/drawing/2014/main" id="{84153141-B5DC-4C1C-825E-FB20F9E7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52425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現在的困難</a:t>
            </a:r>
          </a:p>
        </p:txBody>
      </p:sp>
      <p:sp>
        <p:nvSpPr>
          <p:cNvPr id="7" name="solution-panel-title">
            <a:extLst xmlns:a="http://schemas.openxmlformats.org/drawingml/2006/main">
              <a:ext uri="{FF2B5EF4-FFF2-40B4-BE49-F238E27FC236}">
                <a16:creationId xmlns:a16="http://schemas.microsoft.com/office/drawing/2014/main" id="{EC75C4BE-622C-4808-AB16-6E489145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52425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本專題的解法</a:t>
            </a:r>
          </a:p>
        </p:txBody>
      </p:sp>
      <p:sp>
        <p:nvSpPr>
          <p:cNvPr id="8" name="problem-details">
            <a:extLst xmlns:a="http://schemas.openxmlformats.org/drawingml/2006/main">
              <a:ext uri="{FF2B5EF4-FFF2-40B4-BE49-F238E27FC236}">
                <a16:creationId xmlns:a16="http://schemas.microsoft.com/office/drawing/2014/main" id="{B7A2C8C3-8E27-4016-A3E1-76D35BE9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8" indent="-14">
              <a:lnSpc>
                <a:spcPct val="116000"/>
              </a:lnSpc>
              <a:buNone/>
              <a:def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分散的月資料缺少共同時間軸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總量無法直接說明使用效率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維修紀錄難以轉成保養優先順序</a:t>
            </a:r>
          </a:p>
        </p:txBody>
      </p:sp>
      <p:sp>
        <p:nvSpPr>
          <p:cNvPr id="9" name="solution-details">
            <a:extLst xmlns:a="http://schemas.openxmlformats.org/drawingml/2006/main">
              <a:ext uri="{FF2B5EF4-FFF2-40B4-BE49-F238E27FC236}">
                <a16:creationId xmlns:a16="http://schemas.microsoft.com/office/drawing/2014/main" id="{E3893B0C-86E9-484C-8945-B8333125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05375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8" indent="-14">
              <a:lnSpc>
                <a:spcPct val="116000"/>
              </a:lnSpc>
              <a:buNone/>
              <a:def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以年月整合用電、住宿與氣候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用交叉驗證呈現預測誤差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批次估算冷氣耗電與故障風險</a:t>
            </a:r>
          </a:p>
        </p:txBody>
      </p:sp>
    </p:spTree>
    <p:extLst>
      <p:ext uri="{BB962C8B-B14F-4D97-AF65-F5344CB8AC3E}">
        <p14:creationId xmlns:p14="http://schemas.microsoft.com/office/powerpoint/2010/main" val="15706466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FDA7054A-8F7B-46AC-891B-3619771D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三個問題把用電、預測與維護串成一條研究線</a:t>
            </a:r>
          </a:p>
        </p:txBody>
      </p:sp>
      <p:sp>
        <p:nvSpPr>
          <p:cNvPr id="2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22D6684B-6686-4E50-955B-F98E9A9E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question-number-1">
            <a:extLst xmlns:a="http://schemas.openxmlformats.org/drawingml/2006/main">
              <a:ext uri="{FF2B5EF4-FFF2-40B4-BE49-F238E27FC236}">
                <a16:creationId xmlns:a16="http://schemas.microsoft.com/office/drawing/2014/main" id="{8A5CD859-71F9-49B4-A669-E2745BF9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B8BCC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450" b="1">
                <a:solidFill>
                  <a:srgbClr val="B8BCC4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question-title-1">
            <a:extLst xmlns:a="http://schemas.openxmlformats.org/drawingml/2006/main">
              <a:ext uri="{FF2B5EF4-FFF2-40B4-BE49-F238E27FC236}">
                <a16:creationId xmlns:a16="http://schemas.microsoft.com/office/drawing/2014/main" id="{76E4544D-FC40-4E73-9D11-0028638D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0"/>
            <a:ext cx="342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哪些條件影響用電？</a:t>
            </a:r>
          </a:p>
        </p:txBody>
      </p:sp>
      <p:sp>
        <p:nvSpPr>
          <p:cNvPr id="5" name="question-body-1">
            <a:extLst xmlns:a="http://schemas.openxmlformats.org/drawingml/2006/main">
              <a:ext uri="{FF2B5EF4-FFF2-40B4-BE49-F238E27FC236}">
                <a16:creationId xmlns:a16="http://schemas.microsoft.com/office/drawing/2014/main" id="{A22F486A-28B0-460A-AB38-556FD56A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86250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比較住宿人日、冷房度日、開館天數與總用電的關係。</a:t>
            </a:r>
          </a:p>
        </p:txBody>
      </p:sp>
      <p:sp>
        <p:nvSpPr>
          <p:cNvPr id="6" name="question-number-2">
            <a:extLst xmlns:a="http://schemas.openxmlformats.org/drawingml/2006/main">
              <a:ext uri="{FF2B5EF4-FFF2-40B4-BE49-F238E27FC236}">
                <a16:creationId xmlns:a16="http://schemas.microsoft.com/office/drawing/2014/main" id="{999CDB20-C3BA-464E-A889-FBE11429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571625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4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" name="question-title-2">
            <a:extLst xmlns:a="http://schemas.openxmlformats.org/drawingml/2006/main">
              <a:ext uri="{FF2B5EF4-FFF2-40B4-BE49-F238E27FC236}">
                <a16:creationId xmlns:a16="http://schemas.microsoft.com/office/drawing/2014/main" id="{6AF419BB-58C3-4661-BC96-B5B4E677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238500"/>
            <a:ext cx="342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模型能否預測未見月份？</a:t>
            </a:r>
          </a:p>
        </p:txBody>
      </p:sp>
      <p:sp>
        <p:nvSpPr>
          <p:cNvPr id="8" name="question-body-2">
            <a:extLst xmlns:a="http://schemas.openxmlformats.org/drawingml/2006/main">
              <a:ext uri="{FF2B5EF4-FFF2-40B4-BE49-F238E27FC236}">
                <a16:creationId xmlns:a16="http://schemas.microsoft.com/office/drawing/2014/main" id="{B3C72728-104F-4326-9430-333B4E1B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286250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用 Ridge 迴歸與留一法，報告 R²、MAE、RMSE、MAPE 與基準改善率。</a:t>
            </a:r>
          </a:p>
        </p:txBody>
      </p:sp>
      <p:sp>
        <p:nvSpPr>
          <p:cNvPr id="9" name="question-number-3">
            <a:extLst xmlns:a="http://schemas.openxmlformats.org/drawingml/2006/main">
              <a:ext uri="{FF2B5EF4-FFF2-40B4-BE49-F238E27FC236}">
                <a16:creationId xmlns:a16="http://schemas.microsoft.com/office/drawing/2014/main" id="{520A7010-43DD-44BA-95B2-832C29F8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71625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B8BCC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450" b="1">
                <a:solidFill>
                  <a:srgbClr val="B8BCC4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0" name="question-title-3">
            <a:extLst xmlns:a="http://schemas.openxmlformats.org/drawingml/2006/main">
              <a:ext uri="{FF2B5EF4-FFF2-40B4-BE49-F238E27FC236}">
                <a16:creationId xmlns:a16="http://schemas.microsoft.com/office/drawing/2014/main" id="{3FC02652-98D0-4DB8-B360-59A764DC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38500"/>
            <a:ext cx="342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哪些冷氣應優先處理？</a:t>
            </a:r>
          </a:p>
        </p:txBody>
      </p:sp>
      <p:sp>
        <p:nvSpPr>
          <p:cNvPr id="11" name="question-body-3">
            <a:extLst xmlns:a="http://schemas.openxmlformats.org/drawingml/2006/main">
              <a:ext uri="{FF2B5EF4-FFF2-40B4-BE49-F238E27FC236}">
                <a16:creationId xmlns:a16="http://schemas.microsoft.com/office/drawing/2014/main" id="{BD038408-8F7F-424E-B8A3-C974C4B8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86250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依機型、機齡、負載、保養與故障紀錄，產生耗電與風險排序。</a:t>
            </a:r>
          </a:p>
        </p:txBody>
      </p:sp>
    </p:spTree>
    <p:extLst>
      <p:ext uri="{BB962C8B-B14F-4D97-AF65-F5344CB8AC3E}">
        <p14:creationId xmlns:p14="http://schemas.microsoft.com/office/powerpoint/2010/main" val="20889183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41013571-420F-465B-B12E-6395D408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資料先被檢核，再進入兩條可解釋的模型路徑</a:t>
            </a:r>
          </a:p>
        </p:txBody>
      </p:sp>
      <p:sp>
        <p:nvSpPr>
          <p:cNvPr id="2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6221A0D1-9C92-45A5-B0EA-36426E36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" name="architecture-lead">
            <a:extLst xmlns:a="http://schemas.openxmlformats.org/drawingml/2006/main">
              <a:ext uri="{FF2B5EF4-FFF2-40B4-BE49-F238E27FC236}">
                <a16:creationId xmlns:a16="http://schemas.microsoft.com/office/drawing/2014/main" id="{7C6B72E6-CAAD-4386-A5B9-C36C9EF1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334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月資料用來分析總用電與下月預測；設備清冊則用來估算分時冷氣耗電與維護風險。兩條路徑共享資料品質規則與下載結果。</a:t>
            </a:r>
          </a:p>
        </p:txBody>
      </p:sp>
      <p:sp>
        <p:nvSpPr>
          <p:cNvPr id="4" name="architecture-points">
            <a:extLst xmlns:a="http://schemas.openxmlformats.org/drawingml/2006/main">
              <a:ext uri="{FF2B5EF4-FFF2-40B4-BE49-F238E27FC236}">
                <a16:creationId xmlns:a16="http://schemas.microsoft.com/office/drawing/2014/main" id="{3431071E-D72D-4596-83CE-D7840C5D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57625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8" indent="-14">
              <a:lnSpc>
                <a:spcPct val="116000"/>
              </a:lnSpc>
              <a:buNone/>
              <a:def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年月排序與範圍檢核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人日、冷房度日等衍生欄位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模型指標、參考範圍與外插提醒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圖表、CSV 與完整工作簿下載</a:t>
            </a:r>
          </a:p>
        </p:txBody>
      </p:sp>
      <p:sp>
        <p:nvSpPr>
          <p:cNvPr id="5" name="architecture-field">
            <a:extLst xmlns:a="http://schemas.openxmlformats.org/drawingml/2006/main">
              <a:ext uri="{FF2B5EF4-FFF2-40B4-BE49-F238E27FC236}">
                <a16:creationId xmlns:a16="http://schemas.microsoft.com/office/drawing/2014/main" id="{59F50D79-A05B-4527-87CC-FC0D8670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123950"/>
            <a:ext cx="5524500" cy="4876800"/>
          </a:xfrm>
          <a:prstGeom xmlns:a="http://schemas.openxmlformats.org/drawingml/2006/main" prst="roundRect">
            <a:avLst>
              <a:gd name="adj" fmla="val 1563"/>
            </a:avLst>
          </a:prstGeom>
          <a:solidFill xmlns:a="http://schemas.openxmlformats.org/drawingml/2006/main">
            <a:srgbClr val="F2F7FF"/>
          </a:solidFill>
          <a:ln xmlns:a="http://schemas.openxmlformats.org/drawingml/2006/main" w="9525">
            <a:solidFill>
              <a:srgbClr val="D8E9FF"/>
            </a:solidFill>
            <a:prstDash val="solid"/>
          </a:ln>
        </p:spPr>
      </p:sp>
      <p:cxnSp>
        <p:nvCxnSpPr>
          <p:cNvPr id="25" name="architecture-connector-1"/>
          <p:cNvCxnSpPr/>
          <p:nvPr/>
        </p:nvCxnSpPr>
        <p:spPr>
          <a:xfrm xmlns:a="http://schemas.openxmlformats.org/drawingml/2006/main">
            <a:off x="9029700" y="198120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757A6"/>
            </a:solidFill>
            <a:prstDash val="solid"/>
          </a:ln>
        </p:spPr>
      </p:cxnSp>
      <p:cxnSp>
        <p:nvCxnSpPr>
          <p:cNvPr id="26" name="architecture-connector-2"/>
          <p:cNvCxnSpPr/>
          <p:nvPr/>
        </p:nvCxnSpPr>
        <p:spPr>
          <a:xfrm xmlns:a="http://schemas.openxmlformats.org/drawingml/2006/main">
            <a:off x="9029700" y="2876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757A6"/>
            </a:solidFill>
            <a:prstDash val="solid"/>
          </a:ln>
        </p:spPr>
      </p:cxnSp>
      <p:cxnSp>
        <p:nvCxnSpPr>
          <p:cNvPr id="27" name="architecture-connector-3"/>
          <p:cNvCxnSpPr/>
          <p:nvPr/>
        </p:nvCxnSpPr>
        <p:spPr>
          <a:xfrm xmlns:a="http://schemas.openxmlformats.org/drawingml/2006/main">
            <a:off x="9029700" y="377190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757A6"/>
            </a:solidFill>
            <a:prstDash val="solid"/>
          </a:ln>
        </p:spPr>
      </p:cxnSp>
      <p:cxnSp>
        <p:nvCxnSpPr>
          <p:cNvPr id="28" name="architecture-connector-4"/>
          <p:cNvCxnSpPr/>
          <p:nvPr/>
        </p:nvCxnSpPr>
        <p:spPr>
          <a:xfrm xmlns:a="http://schemas.openxmlformats.org/drawingml/2006/main">
            <a:off x="9029700" y="46672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757A6"/>
            </a:solidFill>
            <a:prstDash val="solid"/>
          </a:ln>
        </p:spPr>
      </p:cxnSp>
      <p:sp>
        <p:nvSpPr>
          <p:cNvPr id="10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76BC7DC0-FBA5-47D9-910E-7049E394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352550"/>
            <a:ext cx="4572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architecture-node-text-1">
            <a:extLst xmlns:a="http://schemas.openxmlformats.org/drawingml/2006/main">
              <a:ext uri="{FF2B5EF4-FFF2-40B4-BE49-F238E27FC236}">
                <a16:creationId xmlns:a16="http://schemas.microsoft.com/office/drawing/2014/main" id="{974A563A-2DCA-431D-8A0E-08FBA937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049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Excel／CSV 原始資料</a:t>
            </a:r>
          </a:p>
        </p:txBody>
      </p:sp>
      <p:sp>
        <p:nvSpPr>
          <p:cNvPr id="12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C0126C8B-D095-4654-8FFF-496C3ACA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47900"/>
            <a:ext cx="4572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architecture-node-text-2">
            <a:extLst xmlns:a="http://schemas.openxmlformats.org/drawingml/2006/main">
              <a:ext uri="{FF2B5EF4-FFF2-40B4-BE49-F238E27FC236}">
                <a16:creationId xmlns:a16="http://schemas.microsoft.com/office/drawing/2014/main" id="{CBF12130-34D4-4215-979A-2BD5815F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003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欄位、空值與關係檢核</a:t>
            </a:r>
          </a:p>
        </p:txBody>
      </p:sp>
      <p:sp>
        <p:nvSpPr>
          <p:cNvPr id="14" name="architecture-node-3">
            <a:extLst xmlns:a="http://schemas.openxmlformats.org/drawingml/2006/main">
              <a:ext uri="{FF2B5EF4-FFF2-40B4-BE49-F238E27FC236}">
                <a16:creationId xmlns:a16="http://schemas.microsoft.com/office/drawing/2014/main" id="{DA88A486-ADC9-47F7-822F-C6345E3C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43250"/>
            <a:ext cx="4572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architecture-node-text-3">
            <a:extLst xmlns:a="http://schemas.openxmlformats.org/drawingml/2006/main">
              <a:ext uri="{FF2B5EF4-FFF2-40B4-BE49-F238E27FC236}">
                <a16:creationId xmlns:a16="http://schemas.microsoft.com/office/drawing/2014/main" id="{8DB5BB5C-826E-46B0-9041-DD9E7E41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2956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人日與冷房度日</a:t>
            </a:r>
          </a:p>
        </p:txBody>
      </p:sp>
      <p:sp>
        <p:nvSpPr>
          <p:cNvPr id="16" name="architecture-node-4">
            <a:extLst xmlns:a="http://schemas.openxmlformats.org/drawingml/2006/main">
              <a:ext uri="{FF2B5EF4-FFF2-40B4-BE49-F238E27FC236}">
                <a16:creationId xmlns:a16="http://schemas.microsoft.com/office/drawing/2014/main" id="{B5C93101-9500-4BB7-88AE-381DE6D3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38600"/>
            <a:ext cx="4572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D8E9FF"/>
          </a:solidFill>
          <a:ln xmlns:a="http://schemas.openxmlformats.org/drawingml/2006/main" w="9525">
            <a:solidFill>
              <a:srgbClr val="0757A6"/>
            </a:solidFill>
            <a:prstDash val="solid"/>
          </a:ln>
        </p:spPr>
      </p:sp>
      <p:sp>
        <p:nvSpPr>
          <p:cNvPr id="17" name="architecture-node-text-4">
            <a:extLst xmlns:a="http://schemas.openxmlformats.org/drawingml/2006/main">
              <a:ext uri="{FF2B5EF4-FFF2-40B4-BE49-F238E27FC236}">
                <a16:creationId xmlns:a16="http://schemas.microsoft.com/office/drawing/2014/main" id="{85256338-3B82-4EC7-ACC0-ACB86276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910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Ridge／冷氣比例風險模型</a:t>
            </a:r>
          </a:p>
        </p:txBody>
      </p:sp>
      <p:sp>
        <p:nvSpPr>
          <p:cNvPr id="18" name="architecture-node-5">
            <a:extLst xmlns:a="http://schemas.openxmlformats.org/drawingml/2006/main">
              <a:ext uri="{FF2B5EF4-FFF2-40B4-BE49-F238E27FC236}">
                <a16:creationId xmlns:a16="http://schemas.microsoft.com/office/drawing/2014/main" id="{5E10D4BB-B910-4534-80BD-106EC693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33950"/>
            <a:ext cx="4572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architecture-node-text-5">
            <a:extLst xmlns:a="http://schemas.openxmlformats.org/drawingml/2006/main">
              <a:ext uri="{FF2B5EF4-FFF2-40B4-BE49-F238E27FC236}">
                <a16:creationId xmlns:a16="http://schemas.microsoft.com/office/drawing/2014/main" id="{B14455B3-15EB-4AE2-B52F-D1C2353D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0863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趨勢、預測與維護排序</a:t>
            </a:r>
          </a:p>
        </p:txBody>
      </p:sp>
    </p:spTree>
    <p:extLst>
      <p:ext uri="{BB962C8B-B14F-4D97-AF65-F5344CB8AC3E}">
        <p14:creationId xmlns:p14="http://schemas.microsoft.com/office/powerpoint/2010/main" val="10700856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A4A4144D-72FE-4645-8049-C6E036BA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資料設計同時支援分析、模型與後續稽核</a:t>
            </a:r>
          </a:p>
        </p:txBody>
      </p:sp>
      <p:sp>
        <p:nvSpPr>
          <p:cNvPr id="2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00B150DC-50CA-484D-8285-8FBFDD29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" name="data-table-lead">
            <a:extLst xmlns:a="http://schemas.openxmlformats.org/drawingml/2006/main">
              <a:ext uri="{FF2B5EF4-FFF2-40B4-BE49-F238E27FC236}">
                <a16:creationId xmlns:a16="http://schemas.microsoft.com/office/drawing/2014/main" id="{5BC6993D-650F-4F28-8868-6237DB5B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每列資料都必須有清楚的時間、單位與用途；完整工作簿另含資料字典、選單與品質檢核。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400050" y="2095500"/>
          <a:ext xmlns:a="http://schemas.openxmlformats.org/drawingml/2006/main" cx="11391900" cy="3905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28750"/>
                <a:gridCol w="3143250"/>
                <a:gridCol w="1428750"/>
                <a:gridCol w="2571750"/>
                <a:gridCol w="2819400"/>
              </a:tblGrid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資料類型</a:t>
                      </a:r>
                    </a:p>
                  </a:txBody>
                  <a:tcPr marL="91440" marR="91440" marT="45720" marB="45720">
                    <a:solidFill>
                      <a:srgbClr val="0757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代表欄位</a:t>
                      </a:r>
                    </a:p>
                  </a:txBody>
                  <a:tcPr marL="91440" marR="91440" marT="45720" marB="45720">
                    <a:solidFill>
                      <a:srgbClr val="0757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單位</a:t>
                      </a:r>
                    </a:p>
                  </a:txBody>
                  <a:tcPr marL="91440" marR="91440" marT="45720" marB="45720">
                    <a:solidFill>
                      <a:srgbClr val="0757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主要檢核</a:t>
                      </a:r>
                    </a:p>
                  </a:txBody>
                  <a:tcPr marL="91440" marR="91440" marT="45720" marB="45720">
                    <a:solidFill>
                      <a:srgbClr val="0757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研究用途</a:t>
                      </a:r>
                    </a:p>
                  </a:txBody>
                  <a:tcPr marL="91440" marR="91440" marT="45720" marB="45720">
                    <a:solidFill>
                      <a:srgbClr val="0757A6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時間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年份、月份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年月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同年月不可重複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跨年度排序</a:t>
                      </a:r>
                    </a:p>
                  </a:txBody>
                  <a:tcPr marL="91440" marR="91440" marT="45720" marB="45720"/>
                </a:tc>
              </a:tr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用電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總用電、熱水用電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kWh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非負且熱水≤總量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趨勢／用途</a:t>
                      </a:r>
                    </a:p>
                  </a:txBody>
                  <a:tcPr marL="91440" marR="91440" marT="45720" marB="45720"/>
                </a:tc>
              </a:tr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住宿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住宿人數、住宿天數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人／天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天數≤開館天數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住宿人日</a:t>
                      </a:r>
                    </a:p>
                  </a:txBody>
                  <a:tcPr marL="91440" marR="91440" marT="45720" marB="45720"/>
                </a:tc>
              </a:tr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營運氣候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開館天數、平均溫度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天／°C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合理範圍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冷房度日</a:t>
                      </a:r>
                    </a:p>
                  </a:txBody>
                  <a:tcPr marL="91440" marR="91440" marT="45720" marB="45720"/>
                </a:tc>
              </a:tr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冷氣清冊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機型、功率、台數、機齡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kW／台／年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型號與範圍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耗電／風險</a:t>
                      </a:r>
                    </a:p>
                  </a:txBody>
                  <a:tcPr marL="91440" marR="91440" marT="45720" marB="45720"/>
                </a:tc>
              </a:tr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維護事件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保養、巡檢、故障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日期／類別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事件與設備 ID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重新校準模型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6082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31991F3E-88D5-4B0E-ACFE-FDC8F43C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示範年度呈現明顯的學期與寒暑假落差</a:t>
            </a:r>
          </a:p>
        </p:txBody>
      </p:sp>
      <p:sp>
        <p:nvSpPr>
          <p:cNvPr id="2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07F3863F-ACD3-4518-AB42-8A105FA4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00050" y="1381125"/>
          <a:ext xmlns:a="http://schemas.openxmlformats.org/drawingml/2006/main" cx="5143500" cy="4667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7fec8e07d34775"/>
          </a:graphicData>
        </a:graphic>
      </p:graphicFrame>
      <p:sp>
        <p:nvSpPr>
          <p:cNvPr id="4" name="monthly-card-1">
            <a:extLst xmlns:a="http://schemas.openxmlformats.org/drawingml/2006/main">
              <a:ext uri="{FF2B5EF4-FFF2-40B4-BE49-F238E27FC236}">
                <a16:creationId xmlns:a16="http://schemas.microsoft.com/office/drawing/2014/main" id="{5E2CCD80-6C62-4CE2-A591-32962BA6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33500"/>
            <a:ext cx="5524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2F7FF"/>
          </a:solidFill>
          <a:ln xmlns:a="http://schemas.openxmlformats.org/drawingml/2006/main" w="9525">
            <a:solidFill>
              <a:srgbClr val="D8E9FF"/>
            </a:solidFill>
            <a:prstDash val="solid"/>
          </a:ln>
        </p:spPr>
      </p:sp>
      <p:sp>
        <p:nvSpPr>
          <p:cNvPr id="5" name="monthly-stat-1">
            <a:extLst xmlns:a="http://schemas.openxmlformats.org/drawingml/2006/main">
              <a:ext uri="{FF2B5EF4-FFF2-40B4-BE49-F238E27FC236}">
                <a16:creationId xmlns:a16="http://schemas.microsoft.com/office/drawing/2014/main" id="{E35ADE25-A516-4C21-8AB3-EB3BECEC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621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415,418 kWh</a:t>
            </a:r>
          </a:p>
        </p:txBody>
      </p:sp>
      <p:sp>
        <p:nvSpPr>
          <p:cNvPr id="6" name="monthly-label-1">
            <a:extLst xmlns:a="http://schemas.openxmlformats.org/drawingml/2006/main">
              <a:ext uri="{FF2B5EF4-FFF2-40B4-BE49-F238E27FC236}">
                <a16:creationId xmlns:a16="http://schemas.microsoft.com/office/drawing/2014/main" id="{35B91ACF-0934-4B78-8E5B-21A7CDB5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12 個月示範總量</a:t>
            </a:r>
          </a:p>
        </p:txBody>
      </p:sp>
      <p:sp>
        <p:nvSpPr>
          <p:cNvPr id="7" name="monthly-card-2">
            <a:extLst xmlns:a="http://schemas.openxmlformats.org/drawingml/2006/main">
              <a:ext uri="{FF2B5EF4-FFF2-40B4-BE49-F238E27FC236}">
                <a16:creationId xmlns:a16="http://schemas.microsoft.com/office/drawing/2014/main" id="{DD6F041A-D009-4513-A74D-1409FCFC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71800"/>
            <a:ext cx="5524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onthly-stat-2">
            <a:extLst xmlns:a="http://schemas.openxmlformats.org/drawingml/2006/main">
              <a:ext uri="{FF2B5EF4-FFF2-40B4-BE49-F238E27FC236}">
                <a16:creationId xmlns:a16="http://schemas.microsoft.com/office/drawing/2014/main" id="{53AAEBB9-EDF1-468D-9DA3-B8860CFB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004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50,989 kWh</a:t>
            </a:r>
          </a:p>
        </p:txBody>
      </p:sp>
      <p:sp>
        <p:nvSpPr>
          <p:cNvPr id="9" name="monthly-label-2">
            <a:extLst xmlns:a="http://schemas.openxmlformats.org/drawingml/2006/main">
              <a:ext uri="{FF2B5EF4-FFF2-40B4-BE49-F238E27FC236}">
                <a16:creationId xmlns:a16="http://schemas.microsoft.com/office/drawing/2014/main" id="{D055AA78-34B9-4010-A113-461EEEC4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5 月最高</a:t>
            </a:r>
          </a:p>
        </p:txBody>
      </p:sp>
      <p:sp>
        <p:nvSpPr>
          <p:cNvPr id="10" name="monthly-card-3">
            <a:extLst xmlns:a="http://schemas.openxmlformats.org/drawingml/2006/main">
              <a:ext uri="{FF2B5EF4-FFF2-40B4-BE49-F238E27FC236}">
                <a16:creationId xmlns:a16="http://schemas.microsoft.com/office/drawing/2014/main" id="{6646255E-25FE-4254-8BE8-891F1EDA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5524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onthly-stat-3">
            <a:extLst xmlns:a="http://schemas.openxmlformats.org/drawingml/2006/main">
              <a:ext uri="{FF2B5EF4-FFF2-40B4-BE49-F238E27FC236}">
                <a16:creationId xmlns:a16="http://schemas.microsoft.com/office/drawing/2014/main" id="{E2A5F99E-6B53-45E6-9EDA-EBF7BE28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387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4,682 kWh</a:t>
            </a:r>
          </a:p>
        </p:txBody>
      </p:sp>
      <p:sp>
        <p:nvSpPr>
          <p:cNvPr id="12" name="monthly-label-3">
            <a:extLst xmlns:a="http://schemas.openxmlformats.org/drawingml/2006/main">
              <a:ext uri="{FF2B5EF4-FFF2-40B4-BE49-F238E27FC236}">
                <a16:creationId xmlns:a16="http://schemas.microsoft.com/office/drawing/2014/main" id="{0C73A1AC-D0DF-4091-89E7-32B6684C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4292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7 月最低</a:t>
            </a:r>
          </a:p>
        </p:txBody>
      </p:sp>
      <p:sp>
        <p:nvSpPr>
          <p:cNvPr id="13" name="demo-data-footer">
            <a:extLst xmlns:a="http://schemas.openxmlformats.org/drawingml/2006/main">
              <a:ext uri="{FF2B5EF4-FFF2-40B4-BE49-F238E27FC236}">
                <a16:creationId xmlns:a16="http://schemas.microsoft.com/office/drawing/2014/main" id="{CBF22169-D514-427A-8967-11047B39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rPr>
              <a:t>示範資料｜僅用於驗證系統流程，不代表校內實際成效</a:t>
            </a:r>
          </a:p>
        </p:txBody>
      </p:sp>
    </p:spTree>
    <p:extLst>
      <p:ext uri="{BB962C8B-B14F-4D97-AF65-F5344CB8AC3E}">
        <p14:creationId xmlns:p14="http://schemas.microsoft.com/office/powerpoint/2010/main" val="20585880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9A7CDCF1-B5B0-487C-8FDD-8EA58B71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Ridge 在留一法中優於月平均基準，但樣本仍小</a:t>
            </a:r>
          </a:p>
        </p:txBody>
      </p:sp>
      <p:sp>
        <p:nvSpPr>
          <p:cNvPr id="2" name="slide-7-number">
            <a:extLst xmlns:a="http://schemas.openxmlformats.org/drawingml/2006/main">
              <a:ext uri="{FF2B5EF4-FFF2-40B4-BE49-F238E27FC236}">
                <a16:creationId xmlns:a16="http://schemas.microsoft.com/office/drawing/2014/main" id="{616FB469-88FB-4AD7-9147-938C3840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400050" y="1381125"/>
          <a:ext xmlns:a="http://schemas.openxmlformats.org/drawingml/2006/main" cx="5524500" cy="4667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276e89d9bf4ce7"/>
          </a:graphicData>
        </a:graphic>
      </p:graphicFrame>
      <p:sp>
        <p:nvSpPr>
          <p:cNvPr id="4" name="ridge-summary">
            <a:extLst xmlns:a="http://schemas.openxmlformats.org/drawingml/2006/main">
              <a:ext uri="{FF2B5EF4-FFF2-40B4-BE49-F238E27FC236}">
                <a16:creationId xmlns:a16="http://schemas.microsoft.com/office/drawing/2014/main" id="{B1C015A1-EE9B-44AC-BA34-907BDDB1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19250"/>
            <a:ext cx="5524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10 個有住宿月份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MAE 3,673 kWh｜MAPE 12.1%</a:t>
            </a:r>
          </a:p>
        </p:txBody>
      </p:sp>
      <p:sp>
        <p:nvSpPr>
          <p:cNvPr id="5" name="ridge-r2-panel">
            <a:extLst xmlns:a="http://schemas.openxmlformats.org/drawingml/2006/main">
              <a:ext uri="{FF2B5EF4-FFF2-40B4-BE49-F238E27FC236}">
                <a16:creationId xmlns:a16="http://schemas.microsoft.com/office/drawing/2014/main" id="{195394C0-A8E7-4B01-BF5B-00DBFF45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2F7FF"/>
          </a:solidFill>
          <a:ln xmlns:a="http://schemas.openxmlformats.org/drawingml/2006/main" w="9525">
            <a:solidFill>
              <a:srgbClr val="D8E9FF"/>
            </a:solidFill>
            <a:prstDash val="solid"/>
          </a:ln>
        </p:spPr>
      </p:sp>
      <p:sp>
        <p:nvSpPr>
          <p:cNvPr id="6" name="ridge-baseline-panel">
            <a:extLst xmlns:a="http://schemas.openxmlformats.org/drawingml/2006/main">
              <a:ext uri="{FF2B5EF4-FFF2-40B4-BE49-F238E27FC236}">
                <a16:creationId xmlns:a16="http://schemas.microsoft.com/office/drawing/2014/main" id="{E3827560-3687-4B32-96C8-0D9089AF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33750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idge-r2">
            <a:extLst xmlns:a="http://schemas.openxmlformats.org/drawingml/2006/main">
              <a:ext uri="{FF2B5EF4-FFF2-40B4-BE49-F238E27FC236}">
                <a16:creationId xmlns:a16="http://schemas.microsoft.com/office/drawing/2014/main" id="{BF913CD1-47F1-46E6-9DFB-39932C03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67125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0.809</a:t>
            </a:r>
          </a:p>
        </p:txBody>
      </p:sp>
      <p:sp>
        <p:nvSpPr>
          <p:cNvPr id="8" name="ridge-r2-label">
            <a:extLst xmlns:a="http://schemas.openxmlformats.org/drawingml/2006/main">
              <a:ext uri="{FF2B5EF4-FFF2-40B4-BE49-F238E27FC236}">
                <a16:creationId xmlns:a16="http://schemas.microsoft.com/office/drawing/2014/main" id="{00F2E774-6E4E-4CCE-8F44-8374EAF0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000625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CV R²</a:t>
            </a:r>
          </a:p>
        </p:txBody>
      </p:sp>
      <p:sp>
        <p:nvSpPr>
          <p:cNvPr id="9" name="ridge-baseline">
            <a:extLst xmlns:a="http://schemas.openxmlformats.org/drawingml/2006/main">
              <a:ext uri="{FF2B5EF4-FFF2-40B4-BE49-F238E27FC236}">
                <a16:creationId xmlns:a16="http://schemas.microsoft.com/office/drawing/2014/main" id="{E718F9B8-E9B3-490C-9FC0-FA0695A3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667125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62.3%</a:t>
            </a:r>
          </a:p>
        </p:txBody>
      </p:sp>
      <p:sp>
        <p:nvSpPr>
          <p:cNvPr id="10" name="ridge-baseline-label">
            <a:extLst xmlns:a="http://schemas.openxmlformats.org/drawingml/2006/main">
              <a:ext uri="{FF2B5EF4-FFF2-40B4-BE49-F238E27FC236}">
                <a16:creationId xmlns:a16="http://schemas.microsoft.com/office/drawing/2014/main" id="{89A55F2D-3296-409D-88AC-5CC7870D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905375"/>
            <a:ext cx="209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MAE 相對基準改善</a:t>
            </a:r>
          </a:p>
        </p:txBody>
      </p:sp>
      <p:sp>
        <p:nvSpPr>
          <p:cNvPr id="11" name="demo-data-footer">
            <a:extLst xmlns:a="http://schemas.openxmlformats.org/drawingml/2006/main">
              <a:ext uri="{FF2B5EF4-FFF2-40B4-BE49-F238E27FC236}">
                <a16:creationId xmlns:a16="http://schemas.microsoft.com/office/drawing/2014/main" id="{A82B2D16-7973-4342-81AF-F46B328A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rPr>
              <a:t>示範資料｜僅用於驗證系統流程，不代表校內實際成效</a:t>
            </a:r>
          </a:p>
        </p:txBody>
      </p:sp>
    </p:spTree>
    <p:extLst>
      <p:ext uri="{BB962C8B-B14F-4D97-AF65-F5344CB8AC3E}">
        <p14:creationId xmlns:p14="http://schemas.microsoft.com/office/powerpoint/2010/main" val="1849282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A92E675C-AF5F-4505-A797-5E3C2D4E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冷氣模組同時回答何時耗電與哪些設備先保養</a:t>
            </a:r>
          </a:p>
        </p:txBody>
      </p:sp>
      <p:sp>
        <p:nvSpPr>
          <p:cNvPr id="2" name="slide-8-number">
            <a:extLst xmlns:a="http://schemas.openxmlformats.org/drawingml/2006/main">
              <a:ext uri="{FF2B5EF4-FFF2-40B4-BE49-F238E27FC236}">
                <a16:creationId xmlns:a16="http://schemas.microsoft.com/office/drawing/2014/main" id="{CD95ABE0-2A42-498D-89DB-3507ECE6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3" name="ac-chart-frame">
            <a:extLst xmlns:a="http://schemas.openxmlformats.org/drawingml/2006/main">
              <a:ext uri="{FF2B5EF4-FFF2-40B4-BE49-F238E27FC236}">
                <a16:creationId xmlns:a16="http://schemas.microsoft.com/office/drawing/2014/main" id="{665812EA-5366-4461-BC54-70D92DDC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5524500" cy="5143500"/>
          </a:xfrm>
          <a:prstGeom xmlns:a="http://schemas.openxmlformats.org/drawingml/2006/main" prst="roundRect">
            <a:avLst>
              <a:gd name="adj" fmla="val 14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66750" y="1476375"/>
          <a:ext xmlns:a="http://schemas.openxmlformats.org/drawingml/2006/main" cx="5000625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7cdcb0760c447a"/>
          </a:graphicData>
        </a:graphic>
      </p:graphicFrame>
      <p:sp>
        <p:nvSpPr>
          <p:cNvPr id="5" name="ac-summary">
            <a:extLst xmlns:a="http://schemas.openxmlformats.org/drawingml/2006/main">
              <a:ext uri="{FF2B5EF4-FFF2-40B4-BE49-F238E27FC236}">
                <a16:creationId xmlns:a16="http://schemas.microsoft.com/office/drawing/2014/main" id="{1A9A2E32-ED2A-4E29-8957-82749DAF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71625"/>
            <a:ext cx="5191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50 台變頻一級能效｜1.45 kW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平均溫度 25°C｜設定 26°C｜30 天</a:t>
            </a:r>
          </a:p>
        </p:txBody>
      </p:sp>
      <p:sp>
        <p:nvSpPr>
          <p:cNvPr id="6" name="ac-energy">
            <a:extLst xmlns:a="http://schemas.openxmlformats.org/drawingml/2006/main">
              <a:ext uri="{FF2B5EF4-FFF2-40B4-BE49-F238E27FC236}">
                <a16:creationId xmlns:a16="http://schemas.microsoft.com/office/drawing/2014/main" id="{CC67D3CC-F643-4AA3-9DC4-5C41C07E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52875"/>
            <a:ext cx="2238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5,337 kWh</a:t>
            </a:r>
          </a:p>
        </p:txBody>
      </p:sp>
      <p:sp>
        <p:nvSpPr>
          <p:cNvPr id="7" name="ac-energy-label">
            <a:extLst xmlns:a="http://schemas.openxmlformats.org/drawingml/2006/main">
              <a:ext uri="{FF2B5EF4-FFF2-40B4-BE49-F238E27FC236}">
                <a16:creationId xmlns:a16="http://schemas.microsoft.com/office/drawing/2014/main" id="{23033366-17FA-4513-B865-292EEB94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000625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估計月耗電</a:t>
            </a:r>
          </a:p>
        </p:txBody>
      </p:sp>
      <p:sp>
        <p:nvSpPr>
          <p:cNvPr id="8" name="ac-risk">
            <a:extLst xmlns:a="http://schemas.openxmlformats.org/drawingml/2006/main">
              <a:ext uri="{FF2B5EF4-FFF2-40B4-BE49-F238E27FC236}">
                <a16:creationId xmlns:a16="http://schemas.microsoft.com/office/drawing/2014/main" id="{D7E70B77-9444-4A5E-9D77-E19AA1BE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952875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7.5%</a:t>
            </a:r>
          </a:p>
        </p:txBody>
      </p:sp>
      <p:sp>
        <p:nvSpPr>
          <p:cNvPr id="9" name="ac-risk-label">
            <a:extLst xmlns:a="http://schemas.openxmlformats.org/drawingml/2006/main">
              <a:ext uri="{FF2B5EF4-FFF2-40B4-BE49-F238E27FC236}">
                <a16:creationId xmlns:a16="http://schemas.microsoft.com/office/drawing/2014/main" id="{2D8BBDA9-4926-496D-9D38-FC8B77C6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000625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單台年度故障機率</a:t>
            </a:r>
          </a:p>
        </p:txBody>
      </p:sp>
      <p:sp>
        <p:nvSpPr>
          <p:cNvPr id="10" name="demo-data-footer">
            <a:extLst xmlns:a="http://schemas.openxmlformats.org/drawingml/2006/main">
              <a:ext uri="{FF2B5EF4-FFF2-40B4-BE49-F238E27FC236}">
                <a16:creationId xmlns:a16="http://schemas.microsoft.com/office/drawing/2014/main" id="{CCF25CBE-EF1D-4E11-8F0D-7FF3BDAC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rPr>
              <a:t>示範資料｜僅用於驗證系統流程，不代表校內實際成效</a:t>
            </a:r>
          </a:p>
        </p:txBody>
      </p:sp>
    </p:spTree>
    <p:extLst>
      <p:ext uri="{BB962C8B-B14F-4D97-AF65-F5344CB8AC3E}">
        <p14:creationId xmlns:p14="http://schemas.microsoft.com/office/powerpoint/2010/main" val="18158610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C25ABB3D-624D-48E6-AEEB-D5D055A9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三張實際畫面串起分析、預測與維護</a:t>
            </a:r>
          </a:p>
        </p:txBody>
      </p:sp>
      <p:sp>
        <p:nvSpPr>
          <p:cNvPr id="2" name="slide-9-number">
            <a:extLst xmlns:a="http://schemas.openxmlformats.org/drawingml/2006/main">
              <a:ext uri="{FF2B5EF4-FFF2-40B4-BE49-F238E27FC236}">
                <a16:creationId xmlns:a16="http://schemas.microsoft.com/office/drawing/2014/main" id="{0E810716-4861-4546-B2D0-8F2F2287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3" name="screen-frame-1">
            <a:extLst xmlns:a="http://schemas.openxmlformats.org/drawingml/2006/main">
              <a:ext uri="{FF2B5EF4-FFF2-40B4-BE49-F238E27FC236}">
                <a16:creationId xmlns:a16="http://schemas.microsoft.com/office/drawing/2014/main" id="{FE4D6059-907E-4CBB-BEFF-DC7B7D60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381125"/>
            <a:ext cx="37338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a7a8f747d14587"/>
          <a:stretch xmlns:a="http://schemas.openxmlformats.org/drawingml/2006/main"/>
        </p:blipFill>
        <p:spPr>
          <a:xfrm xmlns:a="http://schemas.openxmlformats.org/drawingml/2006/main">
            <a:off x="400050" y="1434108"/>
            <a:ext cx="3638550" cy="2046684"/>
          </a:xfrm>
          <a:prstGeom xmlns:a="http://schemas.openxmlformats.org/drawingml/2006/main" prst="roundRect">
            <a:avLst>
              <a:gd name="adj" fmla="val 2315"/>
            </a:avLst>
          </a:prstGeom>
        </p:spPr>
      </p:pic>
      <p:cxnSp>
        <p:nvCxnSpPr>
          <p:cNvPr id="23" name="screen-rule-1"/>
          <p:cNvCxnSpPr/>
          <p:nvPr/>
        </p:nvCxnSpPr>
        <p:spPr>
          <a:xfrm xmlns:a="http://schemas.openxmlformats.org/drawingml/2006/main">
            <a:off x="400050" y="381000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8BCC4"/>
            </a:solidFill>
            <a:prstDash val="solid"/>
          </a:ln>
        </p:spPr>
      </p:cxnSp>
      <p:sp>
        <p:nvSpPr>
          <p:cNvPr id="6" name="screen-title-1">
            <a:extLst xmlns:a="http://schemas.openxmlformats.org/drawingml/2006/main">
              <a:ext uri="{FF2B5EF4-FFF2-40B4-BE49-F238E27FC236}">
                <a16:creationId xmlns:a16="http://schemas.microsoft.com/office/drawing/2014/main" id="{B85BC23E-70EC-49B5-9E60-19D8FC00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19550"/>
            <a:ext cx="3638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系統首頁</a:t>
            </a:r>
          </a:p>
        </p:txBody>
      </p:sp>
      <p:sp>
        <p:nvSpPr>
          <p:cNvPr id="7" name="screen-body-1">
            <a:extLst xmlns:a="http://schemas.openxmlformats.org/drawingml/2006/main">
              <a:ext uri="{FF2B5EF4-FFF2-40B4-BE49-F238E27FC236}">
                <a16:creationId xmlns:a16="http://schemas.microsoft.com/office/drawing/2014/main" id="{19D52756-6EAD-480D-8612-668A28B6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48200"/>
            <a:ext cx="36385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先看年度總量、最高與最低月份，再進入跨年度趨勢。</a:t>
            </a:r>
          </a:p>
        </p:txBody>
      </p:sp>
      <p:sp>
        <p:nvSpPr>
          <p:cNvPr id="8" name="screen-frame-2">
            <a:extLst xmlns:a="http://schemas.openxmlformats.org/drawingml/2006/main">
              <a:ext uri="{FF2B5EF4-FFF2-40B4-BE49-F238E27FC236}">
                <a16:creationId xmlns:a16="http://schemas.microsoft.com/office/drawing/2014/main" id="{89C01384-B921-4DA4-87C4-D04024D1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381125"/>
            <a:ext cx="37338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FF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f653f08bc24b2e"/>
          <a:stretch xmlns:a="http://schemas.openxmlformats.org/drawingml/2006/main"/>
        </p:blipFill>
        <p:spPr>
          <a:xfrm xmlns:a="http://schemas.openxmlformats.org/drawingml/2006/main">
            <a:off x="4276725" y="1434108"/>
            <a:ext cx="3638550" cy="2046684"/>
          </a:xfrm>
          <a:prstGeom xmlns:a="http://schemas.openxmlformats.org/drawingml/2006/main" prst="roundRect">
            <a:avLst>
              <a:gd name="adj" fmla="val 2315"/>
            </a:avLst>
          </a:prstGeom>
        </p:spPr>
      </p:pic>
      <p:cxnSp>
        <p:nvCxnSpPr>
          <p:cNvPr id="28" name="screen-rule-2"/>
          <p:cNvCxnSpPr/>
          <p:nvPr/>
        </p:nvCxnSpPr>
        <p:spPr>
          <a:xfrm xmlns:a="http://schemas.openxmlformats.org/drawingml/2006/main">
            <a:off x="4276725" y="381000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0757A6"/>
            </a:solidFill>
            <a:prstDash val="solid"/>
          </a:ln>
        </p:spPr>
      </p:cxnSp>
      <p:sp>
        <p:nvSpPr>
          <p:cNvPr id="11" name="screen-title-2">
            <a:extLst xmlns:a="http://schemas.openxmlformats.org/drawingml/2006/main">
              <a:ext uri="{FF2B5EF4-FFF2-40B4-BE49-F238E27FC236}">
                <a16:creationId xmlns:a16="http://schemas.microsoft.com/office/drawing/2014/main" id="{3688ED36-9059-48FF-B7A4-30E6BB4A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019550"/>
            <a:ext cx="3638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用電預測</a:t>
            </a:r>
          </a:p>
        </p:txBody>
      </p:sp>
      <p:sp>
        <p:nvSpPr>
          <p:cNvPr id="12" name="screen-body-2">
            <a:extLst xmlns:a="http://schemas.openxmlformats.org/drawingml/2006/main">
              <a:ext uri="{FF2B5EF4-FFF2-40B4-BE49-F238E27FC236}">
                <a16:creationId xmlns:a16="http://schemas.microsoft.com/office/drawing/2014/main" id="{7D8E4589-CC2D-4C50-A402-9BF09B49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648200"/>
            <a:ext cx="36385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同頁呈現留一法指標、基準比較、預測範圍與外插提醒。</a:t>
            </a:r>
          </a:p>
        </p:txBody>
      </p:sp>
      <p:sp>
        <p:nvSpPr>
          <p:cNvPr id="13" name="screen-frame-3">
            <a:extLst xmlns:a="http://schemas.openxmlformats.org/drawingml/2006/main">
              <a:ext uri="{FF2B5EF4-FFF2-40B4-BE49-F238E27FC236}">
                <a16:creationId xmlns:a16="http://schemas.microsoft.com/office/drawing/2014/main" id="{77EC1C46-8E09-4940-B5AF-9AD68B52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381125"/>
            <a:ext cx="37338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56f32779944192"/>
          <a:stretch xmlns:a="http://schemas.openxmlformats.org/drawingml/2006/main"/>
        </p:blipFill>
        <p:spPr>
          <a:xfrm xmlns:a="http://schemas.openxmlformats.org/drawingml/2006/main">
            <a:off x="8153400" y="1434108"/>
            <a:ext cx="3638550" cy="2046684"/>
          </a:xfrm>
          <a:prstGeom xmlns:a="http://schemas.openxmlformats.org/drawingml/2006/main" prst="roundRect">
            <a:avLst>
              <a:gd name="adj" fmla="val 2315"/>
            </a:avLst>
          </a:prstGeom>
        </p:spPr>
      </p:pic>
      <p:cxnSp>
        <p:nvCxnSpPr>
          <p:cNvPr id="33" name="screen-rule-3"/>
          <p:cNvCxnSpPr/>
          <p:nvPr/>
        </p:nvCxnSpPr>
        <p:spPr>
          <a:xfrm xmlns:a="http://schemas.openxmlformats.org/drawingml/2006/main">
            <a:off x="8153400" y="381000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8BCC4"/>
            </a:solidFill>
            <a:prstDash val="solid"/>
          </a:ln>
        </p:spPr>
      </p:cxnSp>
      <p:sp>
        <p:nvSpPr>
          <p:cNvPr id="16" name="screen-title-3">
            <a:extLst xmlns:a="http://schemas.openxmlformats.org/drawingml/2006/main">
              <a:ext uri="{FF2B5EF4-FFF2-40B4-BE49-F238E27FC236}">
                <a16:creationId xmlns:a16="http://schemas.microsoft.com/office/drawing/2014/main" id="{7B2E4CE4-C202-431B-B219-8AAAD679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19550"/>
            <a:ext cx="3638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冷氣風險</a:t>
            </a:r>
          </a:p>
        </p:txBody>
      </p:sp>
      <p:sp>
        <p:nvSpPr>
          <p:cNvPr id="17" name="screen-body-3">
            <a:extLst xmlns:a="http://schemas.openxmlformats.org/drawingml/2006/main">
              <a:ext uri="{FF2B5EF4-FFF2-40B4-BE49-F238E27FC236}">
                <a16:creationId xmlns:a16="http://schemas.microsoft.com/office/drawing/2014/main" id="{E27C6435-B435-4CE3-BB43-02FADB6D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48200"/>
            <a:ext cx="36385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依時段估耗電，並把機齡、負載與保養轉成維護排序。</a:t>
            </a:r>
          </a:p>
        </p:txBody>
      </p:sp>
      <p:sp>
        <p:nvSpPr>
          <p:cNvPr id="18" name="screen-backup-note">
            <a:extLst xmlns:a="http://schemas.openxmlformats.org/drawingml/2006/main">
              <a:ext uri="{FF2B5EF4-FFF2-40B4-BE49-F238E27FC236}">
                <a16:creationId xmlns:a16="http://schemas.microsoft.com/office/drawing/2014/main" id="{98BD144C-B291-484C-AA84-6769997D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rPr>
              <a:t>實際部署畫面｜現場網路不穩時，本頁可直接作為口試展示備援</a:t>
            </a:r>
          </a:p>
        </p:txBody>
      </p:sp>
    </p:spTree>
    <p:extLst>
      <p:ext uri="{BB962C8B-B14F-4D97-AF65-F5344CB8AC3E}">
        <p14:creationId xmlns:p14="http://schemas.microsoft.com/office/powerpoint/2010/main" val="63993638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B0D8A772-1D0B-461C-BDD6-659251FD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研究誠信決定這個專題是否可信</a:t>
            </a:r>
          </a:p>
        </p:txBody>
      </p:sp>
      <p:sp>
        <p:nvSpPr>
          <p:cNvPr id="2" name="slide-10-number">
            <a:extLst xmlns:a="http://schemas.openxmlformats.org/drawingml/2006/main">
              <a:ext uri="{FF2B5EF4-FFF2-40B4-BE49-F238E27FC236}">
                <a16:creationId xmlns:a16="http://schemas.microsoft.com/office/drawing/2014/main" id="{3255DBBF-4488-4FD4-B8F5-2F5082A8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cxnSp>
        <p:nvCxnSpPr>
          <p:cNvPr id="11" name="integrity-divider"/>
          <p:cNvCxnSpPr/>
          <p:nvPr/>
        </p:nvCxnSpPr>
        <p:spPr>
          <a:xfrm xmlns:a="http://schemas.openxmlformats.org/drawingml/2006/main">
            <a:off x="6096000" y="1666875"/>
            <a:ext cx="0" cy="3905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4" name="integrity-left-title">
            <a:extLst xmlns:a="http://schemas.openxmlformats.org/drawingml/2006/main">
              <a:ext uri="{FF2B5EF4-FFF2-40B4-BE49-F238E27FC236}">
                <a16:creationId xmlns:a16="http://schemas.microsoft.com/office/drawing/2014/main" id="{92EC2CF2-1627-4F55-AC0E-F8708EE0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目前可以證明</a:t>
            </a:r>
          </a:p>
        </p:txBody>
      </p:sp>
      <p:sp>
        <p:nvSpPr>
          <p:cNvPr id="5" name="integrity-left-bullets">
            <a:extLst xmlns:a="http://schemas.openxmlformats.org/drawingml/2006/main">
              <a:ext uri="{FF2B5EF4-FFF2-40B4-BE49-F238E27FC236}">
                <a16:creationId xmlns:a16="http://schemas.microsoft.com/office/drawing/2014/main" id="{B16E4D6C-7B8F-4DED-83A2-A55AF495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05125"/>
            <a:ext cx="5143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系統能讀取跨年度月資料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模型能產生留一法樣本外指標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完整工作簿能通過資料品質檢核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冷氣設備群組能產生風險排序</a:t>
            </a:r>
          </a:p>
        </p:txBody>
      </p:sp>
      <p:sp>
        <p:nvSpPr>
          <p:cNvPr id="6" name="integrity-right-title">
            <a:extLst xmlns:a="http://schemas.openxmlformats.org/drawingml/2006/main">
              <a:ext uri="{FF2B5EF4-FFF2-40B4-BE49-F238E27FC236}">
                <a16:creationId xmlns:a16="http://schemas.microsoft.com/office/drawing/2014/main" id="{FBE72EFB-A47A-4C74-9BDC-337D893D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050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rPr>
              <a:t>目前不能宣稱</a:t>
            </a:r>
          </a:p>
        </p:txBody>
      </p:sp>
      <p:sp>
        <p:nvSpPr>
          <p:cNvPr id="7" name="integrity-right-bullets">
            <a:extLst xmlns:a="http://schemas.openxmlformats.org/drawingml/2006/main">
              <a:ext uri="{FF2B5EF4-FFF2-40B4-BE49-F238E27FC236}">
                <a16:creationId xmlns:a16="http://schemas.microsoft.com/office/drawing/2014/main" id="{49338B33-6D0B-4238-8DF4-0C707994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05125"/>
            <a:ext cx="5143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示範數值是淡江宿舍真實量測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情境節電等於實際節電成效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比例風險就是校內真實故障率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10 個月份足以代表其他年度</a:t>
            </a:r>
          </a:p>
        </p:txBody>
      </p:sp>
      <p:sp>
        <p:nvSpPr>
          <p:cNvPr id="8" name="integrity-bottom">
            <a:extLst xmlns:a="http://schemas.openxmlformats.org/drawingml/2006/main">
              <a:ext uri="{FF2B5EF4-FFF2-40B4-BE49-F238E27FC236}">
                <a16:creationId xmlns:a16="http://schemas.microsoft.com/office/drawing/2014/main" id="{9EF1E829-1DC6-4200-AFF5-8CD0AA7C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正式結論需要：24–36 個月授權資料、設備銘牌、保養與故障標籤，以及時間序列驗證。</a:t>
            </a:r>
          </a:p>
        </p:txBody>
      </p:sp>
    </p:spTree>
    <p:extLst>
      <p:ext uri="{BB962C8B-B14F-4D97-AF65-F5344CB8AC3E}">
        <p14:creationId xmlns:p14="http://schemas.microsoft.com/office/powerpoint/2010/main" val="7984613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C5B02410-29F3-4F0A-A490-A30AD376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正式資料到位後，12 週可完成研究驗證與口試</a:t>
            </a:r>
          </a:p>
        </p:txBody>
      </p:sp>
      <p:sp>
        <p:nvSpPr>
          <p:cNvPr id="2" name="slide-11-number">
            <a:extLst xmlns:a="http://schemas.openxmlformats.org/drawingml/2006/main">
              <a:ext uri="{FF2B5EF4-FFF2-40B4-BE49-F238E27FC236}">
                <a16:creationId xmlns:a16="http://schemas.microsoft.com/office/drawing/2014/main" id="{F05CEA8D-3ADD-42FF-870C-5C61A54D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cxnSp>
        <p:nvCxnSpPr>
          <p:cNvPr id="18" name="roadmap-line"/>
          <p:cNvCxnSpPr/>
          <p:nvPr/>
        </p:nvCxnSpPr>
        <p:spPr>
          <a:xfrm xmlns:a="http://schemas.openxmlformats.org/drawingml/2006/main">
            <a:off x="400050" y="33337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4" name="roadmap-dot-1">
            <a:extLst xmlns:a="http://schemas.openxmlformats.org/drawingml/2006/main">
              <a:ext uri="{FF2B5EF4-FFF2-40B4-BE49-F238E27FC236}">
                <a16:creationId xmlns:a16="http://schemas.microsoft.com/office/drawing/2014/main" id="{3D00DD53-DD4B-4699-B53F-03318695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oadmap-label-1">
            <a:extLst xmlns:a="http://schemas.openxmlformats.org/drawingml/2006/main">
              <a:ext uri="{FF2B5EF4-FFF2-40B4-BE49-F238E27FC236}">
                <a16:creationId xmlns:a16="http://schemas.microsoft.com/office/drawing/2014/main" id="{53E8B43A-4808-40C1-B340-38A96015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622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第 1–4 週</a:t>
            </a:r>
          </a:p>
        </p:txBody>
      </p:sp>
      <p:sp>
        <p:nvSpPr>
          <p:cNvPr id="6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2A4F206A-FBE0-4D81-9ED1-4C60DE35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57625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取得與清理資料</a:t>
            </a:r>
          </a:p>
        </p:txBody>
      </p:sp>
      <p:sp>
        <p:nvSpPr>
          <p:cNvPr id="7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EEEEC0B8-0284-44FF-82E4-3315E7C0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14875"/>
            <a:ext cx="3143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確認授權、欄位、來源與量測期間；替換工作簿示範列。</a:t>
            </a:r>
          </a:p>
        </p:txBody>
      </p:sp>
      <p:sp>
        <p:nvSpPr>
          <p:cNvPr id="8" name="roadmap-dot-2">
            <a:extLst xmlns:a="http://schemas.openxmlformats.org/drawingml/2006/main">
              <a:ext uri="{FF2B5EF4-FFF2-40B4-BE49-F238E27FC236}">
                <a16:creationId xmlns:a16="http://schemas.microsoft.com/office/drawing/2014/main" id="{DDC46930-FACB-45F1-BC94-AA23BC84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7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oadmap-label-2">
            <a:extLst xmlns:a="http://schemas.openxmlformats.org/drawingml/2006/main">
              <a:ext uri="{FF2B5EF4-FFF2-40B4-BE49-F238E27FC236}">
                <a16:creationId xmlns:a16="http://schemas.microsoft.com/office/drawing/2014/main" id="{A95345D8-CCE0-457B-96F9-DF75277E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622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第 5–8 週</a:t>
            </a:r>
          </a:p>
        </p:txBody>
      </p:sp>
      <p:sp>
        <p:nvSpPr>
          <p:cNvPr id="10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F878C487-851A-4F8E-897C-1FADDC2F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57625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重跑與驗證模型</a:t>
            </a:r>
          </a:p>
        </p:txBody>
      </p:sp>
      <p:sp>
        <p:nvSpPr>
          <p:cNvPr id="11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56360361-E358-4C56-A528-1DE2D2DA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714875"/>
            <a:ext cx="3143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加入時間序列切分、季節基準與實際故障標籤校準。</a:t>
            </a:r>
          </a:p>
        </p:txBody>
      </p:sp>
      <p:sp>
        <p:nvSpPr>
          <p:cNvPr id="12" name="roadmap-dot-3">
            <a:extLst xmlns:a="http://schemas.openxmlformats.org/drawingml/2006/main">
              <a:ext uri="{FF2B5EF4-FFF2-40B4-BE49-F238E27FC236}">
                <a16:creationId xmlns:a16="http://schemas.microsoft.com/office/drawing/2014/main" id="{DCD7E2ED-196D-4DD0-87DA-BD69DF95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oadmap-label-3">
            <a:extLst xmlns:a="http://schemas.openxmlformats.org/drawingml/2006/main">
              <a:ext uri="{FF2B5EF4-FFF2-40B4-BE49-F238E27FC236}">
                <a16:creationId xmlns:a16="http://schemas.microsoft.com/office/drawing/2014/main" id="{AD754F04-635E-481A-9755-210AE51B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622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第 9–12 週</a:t>
            </a:r>
          </a:p>
        </p:txBody>
      </p:sp>
      <p:sp>
        <p:nvSpPr>
          <p:cNvPr id="14" name="roadmap-title-3">
            <a:extLst xmlns:a="http://schemas.openxmlformats.org/drawingml/2006/main">
              <a:ext uri="{FF2B5EF4-FFF2-40B4-BE49-F238E27FC236}">
                <a16:creationId xmlns:a16="http://schemas.microsoft.com/office/drawing/2014/main" id="{07918485-EC3B-4D86-A153-3C5FE5EC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57625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整合成果與口試</a:t>
            </a:r>
          </a:p>
        </p:txBody>
      </p:sp>
      <p:sp>
        <p:nvSpPr>
          <p:cNvPr id="15" name="roadmap-body-3">
            <a:extLst xmlns:a="http://schemas.openxmlformats.org/drawingml/2006/main">
              <a:ext uri="{FF2B5EF4-FFF2-40B4-BE49-F238E27FC236}">
                <a16:creationId xmlns:a16="http://schemas.microsoft.com/office/drawing/2014/main" id="{32465A92-2BDA-467A-ACE7-0C0AE0CE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14875"/>
            <a:ext cx="3143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訪談機電人員、更新報告圖表、演練 3 分鐘展示與問答。</a:t>
            </a:r>
          </a:p>
        </p:txBody>
      </p:sp>
    </p:spTree>
    <p:extLst>
      <p:ext uri="{BB962C8B-B14F-4D97-AF65-F5344CB8AC3E}">
        <p14:creationId xmlns:p14="http://schemas.microsoft.com/office/powerpoint/2010/main" val="7761032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clusion-eyebrow">
            <a:extLst xmlns:a="http://schemas.openxmlformats.org/drawingml/2006/main">
              <a:ext uri="{FF2B5EF4-FFF2-40B4-BE49-F238E27FC236}">
                <a16:creationId xmlns:a16="http://schemas.microsoft.com/office/drawing/2014/main" id="{2061E90E-7BAE-4C17-9FE2-7D72F55F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結論</a:t>
            </a:r>
          </a:p>
        </p:txBody>
      </p:sp>
      <p:sp>
        <p:nvSpPr>
          <p:cNvPr id="2" name="conclusion-message">
            <a:extLst xmlns:a="http://schemas.openxmlformats.org/drawingml/2006/main">
              <a:ext uri="{FF2B5EF4-FFF2-40B4-BE49-F238E27FC236}">
                <a16:creationId xmlns:a16="http://schemas.microsoft.com/office/drawing/2014/main" id="{D6DF6A53-B53C-47DC-8992-420C800E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10490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51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讓宿舍用電從「看總量」進入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51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「可解釋、可驗證、可行動」</a:t>
            </a:r>
          </a:p>
        </p:txBody>
      </p:sp>
      <p:sp>
        <p:nvSpPr>
          <p:cNvPr id="3" name="conclusion-points">
            <a:extLst xmlns:a="http://schemas.openxmlformats.org/drawingml/2006/main">
              <a:ext uri="{FF2B5EF4-FFF2-40B4-BE49-F238E27FC236}">
                <a16:creationId xmlns:a16="http://schemas.microsoft.com/office/drawing/2014/main" id="{3A661D2B-370D-4A53-AB53-793A0AA7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00625"/>
            <a:ext cx="885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跨年度資料整合｜樣本外模型驗證｜冷氣設備清冊排名</a:t>
            </a:r>
          </a:p>
        </p:txBody>
      </p:sp>
      <p:sp>
        <p:nvSpPr>
          <p:cNvPr id="4" name="conclusion-qa">
            <a:extLst xmlns:a="http://schemas.openxmlformats.org/drawingml/2006/main">
              <a:ext uri="{FF2B5EF4-FFF2-40B4-BE49-F238E27FC236}">
                <a16:creationId xmlns:a16="http://schemas.microsoft.com/office/drawing/2014/main" id="{E8BAB122-2B4A-484C-93DD-F8FD8332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5787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884608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2026-08-12T00:44:55.7950000Z</dcterms:created>
  <dcterms:modified xsi:type="dcterms:W3CDTF">2026-08-12T00:44:55.7950000Z</dcterms:modified>
</coreProperties>
</file>