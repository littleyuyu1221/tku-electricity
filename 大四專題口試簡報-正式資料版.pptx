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1e026d9ae54ab7" /><Relationship Type="http://schemas.openxmlformats.org/officeDocument/2006/relationships/extended-properties" Target="/docProps/app.xml" Id="R77f01831aff64f8d" /><Relationship Type="http://schemas.openxmlformats.org/officeDocument/2006/relationships/officeDocument" Target="/ppt/presentation.xml" Id="Rb260ce4cf8fe45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4776e0ce864451"/>
  </p:sldMasterIdLst>
  <p:notesMasterIdLst>
    <p:notesMasterId xmlns:r="http://schemas.openxmlformats.org/officeDocument/2006/relationships" r:id="Ra05775404e054a8f"/>
  </p:notesMasterIdLst>
  <p:sldIdLst>
    <p:sldId xmlns:r="http://schemas.openxmlformats.org/officeDocument/2006/relationships" id="256" r:id="R9c3b7d3ca89e4b17"/>
    <p:sldId xmlns:r="http://schemas.openxmlformats.org/officeDocument/2006/relationships" id="257" r:id="Ra0c41fa37e2547ab"/>
    <p:sldId xmlns:r="http://schemas.openxmlformats.org/officeDocument/2006/relationships" id="258" r:id="Rc4b89840d2944e14"/>
    <p:sldId xmlns:r="http://schemas.openxmlformats.org/officeDocument/2006/relationships" id="259" r:id="R88dcf128d145439a"/>
    <p:sldId xmlns:r="http://schemas.openxmlformats.org/officeDocument/2006/relationships" id="260" r:id="Rd883a087d1704bb5"/>
    <p:sldId xmlns:r="http://schemas.openxmlformats.org/officeDocument/2006/relationships" id="261" r:id="Reb668d3062a94f74"/>
    <p:sldId xmlns:r="http://schemas.openxmlformats.org/officeDocument/2006/relationships" id="262" r:id="R1f75c375e29c4943"/>
    <p:sldId xmlns:r="http://schemas.openxmlformats.org/officeDocument/2006/relationships" id="263" r:id="R6a226f8f4bf940c6"/>
    <p:sldId xmlns:r="http://schemas.openxmlformats.org/officeDocument/2006/relationships" id="264" r:id="R2a835632c8c342cf"/>
    <p:sldId xmlns:r="http://schemas.openxmlformats.org/officeDocument/2006/relationships" id="265" r:id="R603c4946f8174ce0"/>
    <p:sldId xmlns:r="http://schemas.openxmlformats.org/officeDocument/2006/relationships" id="266" r:id="R9b9d45f38e534138"/>
    <p:sldId xmlns:r="http://schemas.openxmlformats.org/officeDocument/2006/relationships" id="267" r:id="Rb3cee6710c9646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c729f4bb4b4a97" /><Relationship Type="http://schemas.openxmlformats.org/officeDocument/2006/relationships/slideMaster" Target="/ppt/slideMasters/slideMaster1.xml" Id="Rd34776e0ce864451" /><Relationship Type="http://schemas.openxmlformats.org/officeDocument/2006/relationships/notesMaster" Target="/ppt/notesMasters/notesMaster1.xml" Id="Ra05775404e054a8f" /><Relationship Type="http://schemas.openxmlformats.org/officeDocument/2006/relationships/presProps" Target="/ppt/presProps.xml" Id="R0825e7857ec14603" /><Relationship Type="http://schemas.openxmlformats.org/officeDocument/2006/relationships/tableStyles" Target="/ppt/tableStyles.xml" Id="R7a7afffbf0294aa1" /><Relationship Type="http://schemas.openxmlformats.org/officeDocument/2006/relationships/slide" Target="/ppt/slides/slide1.xml" Id="R9c3b7d3ca89e4b17" /><Relationship Type="http://schemas.openxmlformats.org/officeDocument/2006/relationships/slide" Target="/ppt/slides/slide2.xml" Id="Ra0c41fa37e2547ab" /><Relationship Type="http://schemas.openxmlformats.org/officeDocument/2006/relationships/slide" Target="/ppt/slides/slide3.xml" Id="Rc4b89840d2944e14" /><Relationship Type="http://schemas.openxmlformats.org/officeDocument/2006/relationships/slide" Target="/ppt/slides/slide4.xml" Id="R88dcf128d145439a" /><Relationship Type="http://schemas.openxmlformats.org/officeDocument/2006/relationships/slide" Target="/ppt/slides/slide5.xml" Id="Rd883a087d1704bb5" /><Relationship Type="http://schemas.openxmlformats.org/officeDocument/2006/relationships/slide" Target="/ppt/slides/slide6.xml" Id="Reb668d3062a94f74" /><Relationship Type="http://schemas.openxmlformats.org/officeDocument/2006/relationships/slide" Target="/ppt/slides/slide7.xml" Id="R1f75c375e29c4943" /><Relationship Type="http://schemas.openxmlformats.org/officeDocument/2006/relationships/slide" Target="/ppt/slides/slide8.xml" Id="R6a226f8f4bf940c6" /><Relationship Type="http://schemas.openxmlformats.org/officeDocument/2006/relationships/slide" Target="/ppt/slides/slide9.xml" Id="R2a835632c8c342cf" /><Relationship Type="http://schemas.openxmlformats.org/officeDocument/2006/relationships/slide" Target="/ppt/slides/slide10.xml" Id="R603c4946f8174ce0" /><Relationship Type="http://schemas.openxmlformats.org/officeDocument/2006/relationships/slide" Target="/ppt/slides/slide11.xml" Id="R9b9d45f38e534138" /><Relationship Type="http://schemas.openxmlformats.org/officeDocument/2006/relationships/slide" Target="/ppt/slides/slide12.xml" Id="Rb3cee6710c9646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42fce8cb4f4f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7bb33420ed482a" /><Relationship Type="http://schemas.openxmlformats.org/officeDocument/2006/relationships/notesMaster" Target="/ppt/notesMasters/notesMaster1.xml" Id="Rb2c13624056a45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5a28818a0e483d" /><Relationship Type="http://schemas.openxmlformats.org/officeDocument/2006/relationships/notesMaster" Target="/ppt/notesMasters/notesMaster1.xml" Id="R010674f435b345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ebdccbd0fd4fdc" /><Relationship Type="http://schemas.openxmlformats.org/officeDocument/2006/relationships/notesMaster" Target="/ppt/notesMasters/notesMaster1.xml" Id="R0c0a3003d20a46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227f14394c4486" /><Relationship Type="http://schemas.openxmlformats.org/officeDocument/2006/relationships/notesMaster" Target="/ppt/notesMasters/notesMaster1.xml" Id="R279136c39b2447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90cfe1375149d1" /><Relationship Type="http://schemas.openxmlformats.org/officeDocument/2006/relationships/notesMaster" Target="/ppt/notesMasters/notesMaster1.xml" Id="R8d4707899cbd43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050b83c2f747a7" /><Relationship Type="http://schemas.openxmlformats.org/officeDocument/2006/relationships/notesMaster" Target="/ppt/notesMasters/notesMaster1.xml" Id="Rd1ab1da2d9924c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0419f2d4fc4bd4" /><Relationship Type="http://schemas.openxmlformats.org/officeDocument/2006/relationships/notesMaster" Target="/ppt/notesMasters/notesMaster1.xml" Id="R8514028fbde448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6fc3c7b1c649c1" /><Relationship Type="http://schemas.openxmlformats.org/officeDocument/2006/relationships/notesMaster" Target="/ppt/notesMasters/notesMaster1.xml" Id="R6413e6b1d86f48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c81d9a086b4cef" /><Relationship Type="http://schemas.openxmlformats.org/officeDocument/2006/relationships/notesMaster" Target="/ppt/notesMasters/notesMaster1.xml" Id="R6e82226a583146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1ad7a408da4781" /><Relationship Type="http://schemas.openxmlformats.org/officeDocument/2006/relationships/notesMaster" Target="/ppt/notesMasters/notesMaster1.xml" Id="R3519f1f51a3243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295bd86ad304cad" /><Relationship Type="http://schemas.openxmlformats.org/officeDocument/2006/relationships/notesMaster" Target="/ppt/notesMasters/notesMaster1.xml" Id="Rabd186a54383465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b5308aa94d4686" /><Relationship Type="http://schemas.openxmlformats.org/officeDocument/2006/relationships/notesMaster" Target="/ppt/notesMasters/notesMaster1.xml" Id="R151a53a6e0184b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先用一句話說明：本專題把用電、住宿、氣候與冷氣維護資料整合成可操作的決策系統。再補上自己的系所、姓名、學號與指導教授。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本專題 GitHub：https://github.com/Littleyuyu1221/tku-electricity</a:t>
            </a:r>
          </a:p>
          <a:p xmlns:a="http://schemas.openxmlformats.org/drawingml/2006/main">
            <a:r>
              <a:t>- 線上系統：https://tku-electricity-1229.streamlit.app/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先說管理上的痛點，再說本專題不是只做圖表，而是把資料檢核、模型驗證與設備維護串起來。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outputs/大四專題報告-正式資料版.docx，第 1 章與第 3 章</a:t>
            </a:r>
          </a:p>
          <a:p xmlns:a="http://schemas.openxmlformats.org/drawingml/2006/main">
            <a:r>
              <a:t>- outputs/app.py，資料檢核與六個功能頁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把三個問題依序講成：先了解原因，再驗證預測，最後轉成設備管理行動。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outputs/大四專題報告-正式資料版.docx，第 1 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用這張圖說明資料流，不必逐行解釋程式。強調所有結果都先通過格式與合理性檢查。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outputs/app.py，正式資料模式與模型函式</a:t>
            </a:r>
          </a:p>
          <a:p xmlns:a="http://schemas.openxmlformats.org/drawingml/2006/main">
            <a:r>
              <a:t>- outputs/松濤館正式資料分析.xlsx，方法限制與來源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本研究已取得用電、住宿、開館、冷氣清冊與修繕事件；目前仍缺逐館人數、閉館日、已汰換設備主檔及冷氣／熱水分表。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outputs/松濤館正式資料分析.xlsx</a:t>
            </a:r>
          </a:p>
          <a:p xmlns:a="http://schemas.openxmlformats.org/drawingml/2006/main">
            <a:r>
              <a:t>- outputs/大四專題報告-正式資料版.docx，第 2、3 章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這張圖使用校方正式三館月用電。重點是學期月份與暑期落差；數值是三館合計，不可拆成單館住宿效果。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outputs/data/songtao_monthly_electricity_total.csv</a:t>
            </a:r>
          </a:p>
          <a:p xmlns:a="http://schemas.openxmlformats.org/drawingml/2006/main">
            <a:r>
              <a:t>- 校方近五年用電統計表，資料截止 2026-08-13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所有指標都來自只用過去資料預測後續月份的向前驗證。7.4% 是 MAE 相對季節中位數基準的改善，不代表每月誤差只有 7.4%。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outputs/data/energy_model_forward_validation.csv</a:t>
            </a:r>
          </a:p>
          <a:p xmlns:a="http://schemas.openxmlformats.org/drawingml/2006/main">
            <a:r>
              <a:t>- outputs/models/official_models.json</a:t>
            </a:r>
          </a:p>
          <a:p xmlns:a="http://schemas.openxmlformats.org/drawingml/2006/main">
            <a:r>
              <a:t>- Hoerl &amp; Kennard (1970)：https://doi.org/10.1080/00401706.1970.10488634</a:t>
            </a:r>
          </a:p>
          <a:p xmlns:a="http://schemas.openxmlformats.org/drawingml/2006/main">
            <a:r>
              <a:t>- scikit-learn LeaveOneOut：https://scikit-learn.org/stable/modules/generated/sklearn.model_selection.LeaveOneOut.html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左圖是可調整的分時耗電工程情境；右側 23.0% 來自正式清冊與修繕紀錄訓練的 Logistic 排序模型。強調兩者用途不同，排序分數不等於安全認證。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outputs/app.py</a:t>
            </a:r>
          </a:p>
          <a:p xmlns:a="http://schemas.openxmlformats.org/drawingml/2006/main">
            <a:r>
              <a:t>- outputs/models/official_models.json</a:t>
            </a:r>
          </a:p>
          <a:p xmlns:a="http://schemas.openxmlformats.org/drawingml/2006/main">
            <a:r>
              <a:t>- outputs/data/ac_risk_summary_2026.csv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由左至右說明：資料與模型摘要、用電逐月向前驗證、冷氣群組風險。這三張圖可在沒有網路時作為正式資料展示備援。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outputs/松濤館正式資料分析.xlsx</a:t>
            </a:r>
          </a:p>
          <a:p xmlns:a="http://schemas.openxmlformats.org/drawingml/2006/main">
            <a:r>
              <a:t>- outputs/data/energy_model_forward_validation.csv</a:t>
            </a:r>
          </a:p>
          <a:p xmlns:a="http://schemas.openxmlformats.org/drawingml/2006/main">
            <a:r>
              <a:t>- outputs/data/ac_risk_summary_2026.csv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這張是口試的重要防守頁。主動說明限制，反而能證明你理解模型有效性與研究倫理。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outputs/大四專題報告-正式資料版.docx，第 7 章</a:t>
            </a:r>
          </a:p>
          <a:p xmlns:a="http://schemas.openxmlformats.org/drawingml/2006/main">
            <a:r>
              <a:t>- outputs/models/official_models.json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正式資料與模型已完成，後續價值來自固定更新、現場回饋與更細的量測，不是再增加沒有驗證的圖表。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outputs/大四專題報告-正式資料版.docx，第 8 章</a:t>
            </a:r>
          </a:p>
          <a:p xmlns:a="http://schemas.openxmlformats.org/drawingml/2006/main">
            <a:r>
              <a:t>- outputs/松濤館正式資料分析.xlsx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最後重申貢獻不是某個單一分數，而是建立一條可重複、可驗證、能轉成管理行動的資料流程。接著進入問答。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outputs/大四專題報告-正式資料版.docx，第 8 章結論</a:t>
            </a:r>
          </a:p>
          <a:p xmlns:a="http://schemas.openxmlformats.org/drawingml/2006/main">
            <a:r>
              <a:t>- 線上系統：https://tku-electricity-1229.streamlit.app/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c88a4881c543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9992e40fc542a7" /><Relationship Type="http://schemas.openxmlformats.org/officeDocument/2006/relationships/slideLayout" Target="/ppt/slideLayouts/slideLayout1.xml" Id="Rbdf8fd2f96814f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f8fd2f96814f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049ef64534d28" /><Relationship Type="http://schemas.openxmlformats.org/officeDocument/2006/relationships/notesSlide" Target="/ppt/notesSlides/notesSlide1.xml" Id="R154dc53eef4d42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72cd2f3834b67" /><Relationship Type="http://schemas.openxmlformats.org/officeDocument/2006/relationships/notesSlide" Target="/ppt/notesSlides/notesSlide2.xml" Id="R459cdbfe96e84c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af7d09a96432d" /><Relationship Type="http://schemas.openxmlformats.org/officeDocument/2006/relationships/notesSlide" Target="/ppt/notesSlides/notesSlide3.xml" Id="Rf22e5c73b0b548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6eac0a5194939" /><Relationship Type="http://schemas.openxmlformats.org/officeDocument/2006/relationships/notesSlide" Target="/ppt/notesSlides/notesSlide4.xml" Id="R0be8c0cc59e14e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657d3cfe134ec3" /><Relationship Type="http://schemas.openxmlformats.org/officeDocument/2006/relationships/notesSlide" Target="/ppt/notesSlides/notesSlide5.xml" Id="Ra829a11b70a640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622fdc0b84809" /><Relationship Type="http://schemas.openxmlformats.org/officeDocument/2006/relationships/chart" Target="/ppt/slides/charts/chart1.xml" Id="Rf2f93ab6782d4746" /><Relationship Type="http://schemas.openxmlformats.org/officeDocument/2006/relationships/notesSlide" Target="/ppt/notesSlides/notesSlide6.xml" Id="R9d9cc574544241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75cd3cb054d95" /><Relationship Type="http://schemas.openxmlformats.org/officeDocument/2006/relationships/chart" Target="/ppt/slides/charts/chart2.xml" Id="Raba129631a5b4a67" /><Relationship Type="http://schemas.openxmlformats.org/officeDocument/2006/relationships/notesSlide" Target="/ppt/notesSlides/notesSlide7.xml" Id="R30515b54098742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bba1f533c42cd" /><Relationship Type="http://schemas.openxmlformats.org/officeDocument/2006/relationships/chart" Target="/ppt/slides/charts/chart3.xml" Id="R90b89bc29d234f2a" /><Relationship Type="http://schemas.openxmlformats.org/officeDocument/2006/relationships/notesSlide" Target="/ppt/notesSlides/notesSlide8.xml" Id="Rd25ff1eedf504c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2c635f72d4fc8" /><Relationship Type="http://schemas.openxmlformats.org/officeDocument/2006/relationships/image" Target="/ppt/media/image.png" Id="Ra0a027bd00bb4675" /><Relationship Type="http://schemas.openxmlformats.org/officeDocument/2006/relationships/image" Target="/ppt/media/image2.png" Id="R542004368a834191" /><Relationship Type="http://schemas.openxmlformats.org/officeDocument/2006/relationships/image" Target="/ppt/media/image3.png" Id="Rca6e46f1af504953" /><Relationship Type="http://schemas.openxmlformats.org/officeDocument/2006/relationships/notesSlide" Target="/ppt/notesSlides/notesSlide9.xml" Id="R24851019db5149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7b623f1c641c0" /><Relationship Type="http://schemas.openxmlformats.org/officeDocument/2006/relationships/notesSlide" Target="/ppt/notesSlides/notesSlide10.xml" Id="R9bca2ae8008149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906e153a4497d" /><Relationship Type="http://schemas.openxmlformats.org/officeDocument/2006/relationships/notesSlide" Target="/ppt/notesSlides/notesSlide11.xml" Id="R50a2fd162d9b4e8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d5c8d910754db9" /><Relationship Type="http://schemas.openxmlformats.org/officeDocument/2006/relationships/notesSlide" Target="/ppt/notesSlides/notesSlide12.xml" Id="R5b28c28afa654c6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總用電</c:v>
          </c:tx>
          <c:spPr>
            <a:solidFill xmlns:a="http://schemas.openxmlformats.org/drawingml/2006/main">
              <a:srgbClr val="0757A6"/>
            </a:solidFill>
          </c:spPr>
          <c:cat>
            <c:numLit>
              <c:formatCode>General</c:formatCode>
              <c:ptCount val="12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</c:numLit>
          </c:cat>
          <c:val>
            <c:numLit>
              <c:formatCode>#,##0</c:formatCode>
              <c:ptCount val="12"/>
              <c:pt idx="0">
                <c:v>99858</c:v>
              </c:pt>
              <c:pt idx="1">
                <c:v>83968</c:v>
              </c:pt>
              <c:pt idx="2">
                <c:v>179435</c:v>
              </c:pt>
              <c:pt idx="3">
                <c:v>160096</c:v>
              </c:pt>
              <c:pt idx="4">
                <c:v>188234</c:v>
              </c:pt>
              <c:pt idx="5">
                <c:v>152214</c:v>
              </c:pt>
              <c:pt idx="6">
                <c:v>64226</c:v>
              </c:pt>
              <c:pt idx="7">
                <c:v>61178</c:v>
              </c:pt>
              <c:pt idx="8">
                <c:v>188662</c:v>
              </c:pt>
              <c:pt idx="9">
                <c:v>198184</c:v>
              </c:pt>
              <c:pt idx="10">
                <c:v>192439</c:v>
              </c:pt>
              <c:pt idx="11">
                <c:v>202449</c:v>
              </c:pt>
            </c:numLit>
          </c:val>
        </c:ser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月份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22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用電量（kWh）</a:t>
                </a:r>
              </a:p>
            </c:rich>
          </c:tx>
          <c:overlay val="0"/>
        </c:title>
        <c:numFmt formatCode="#,##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  <c:majorUnit val="500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實際</c:v>
          </c:tx>
          <c:spPr>
            <a:ln xmlns:a="http://schemas.openxmlformats.org/drawingml/2006/main" w="38100">
              <a:solidFill>
                <a:srgbClr val="0757A6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0757A6"/>
              </a:solidFill>
            </c:spPr>
          </c:marker>
          <c:cat>
            <c:strLit>
              <c:ptCount val="24"/>
              <c:pt idx="0">
                <c:v>24-01</c:v>
              </c:pt>
              <c:pt idx="1">
                <c:v>24-02</c:v>
              </c:pt>
              <c:pt idx="2">
                <c:v>24-03</c:v>
              </c:pt>
              <c:pt idx="3">
                <c:v>24-04</c:v>
              </c:pt>
              <c:pt idx="4">
                <c:v>24-05</c:v>
              </c:pt>
              <c:pt idx="5">
                <c:v>24-06</c:v>
              </c:pt>
              <c:pt idx="6">
                <c:v>24-09</c:v>
              </c:pt>
              <c:pt idx="7">
                <c:v>24-10</c:v>
              </c:pt>
              <c:pt idx="8">
                <c:v>24-11</c:v>
              </c:pt>
              <c:pt idx="9">
                <c:v>24-12</c:v>
              </c:pt>
              <c:pt idx="10">
                <c:v>25-01</c:v>
              </c:pt>
              <c:pt idx="11">
                <c:v>25-02</c:v>
              </c:pt>
              <c:pt idx="12">
                <c:v>25-03</c:v>
              </c:pt>
              <c:pt idx="13">
                <c:v>25-04</c:v>
              </c:pt>
              <c:pt idx="14">
                <c:v>25-05</c:v>
              </c:pt>
              <c:pt idx="15">
                <c:v>25-10</c:v>
              </c:pt>
              <c:pt idx="16">
                <c:v>25-11</c:v>
              </c:pt>
              <c:pt idx="17">
                <c:v>25-12</c:v>
              </c:pt>
              <c:pt idx="18">
                <c:v>26-01</c:v>
              </c:pt>
              <c:pt idx="19">
                <c:v>26-02</c:v>
              </c:pt>
              <c:pt idx="20">
                <c:v>26-03</c:v>
              </c:pt>
              <c:pt idx="21">
                <c:v>26-04</c:v>
              </c:pt>
              <c:pt idx="22">
                <c:v>26-05</c:v>
              </c:pt>
              <c:pt idx="23">
                <c:v>26-06</c:v>
              </c:pt>
            </c:strLit>
          </c:cat>
          <c:val>
            <c:numLit>
              <c:formatCode>#,##0</c:formatCode>
              <c:ptCount val="24"/>
              <c:pt idx="0">
                <c:v>99858</c:v>
              </c:pt>
              <c:pt idx="1">
                <c:v>83968</c:v>
              </c:pt>
              <c:pt idx="2">
                <c:v>179435</c:v>
              </c:pt>
              <c:pt idx="3">
                <c:v>160096</c:v>
              </c:pt>
              <c:pt idx="4">
                <c:v>188234</c:v>
              </c:pt>
              <c:pt idx="5">
                <c:v>152214</c:v>
              </c:pt>
              <c:pt idx="6">
                <c:v>188662</c:v>
              </c:pt>
              <c:pt idx="7">
                <c:v>198184</c:v>
              </c:pt>
              <c:pt idx="8">
                <c:v>192439</c:v>
              </c:pt>
              <c:pt idx="9">
                <c:v>202449</c:v>
              </c:pt>
              <c:pt idx="10">
                <c:v>81892</c:v>
              </c:pt>
              <c:pt idx="11">
                <c:v>83245</c:v>
              </c:pt>
              <c:pt idx="12">
                <c:v>176188</c:v>
              </c:pt>
              <c:pt idx="13">
                <c:v>173003</c:v>
              </c:pt>
              <c:pt idx="14">
                <c:v>155462</c:v>
              </c:pt>
              <c:pt idx="15">
                <c:v>154238</c:v>
              </c:pt>
              <c:pt idx="16">
                <c:v>166729</c:v>
              </c:pt>
              <c:pt idx="17">
                <c:v>177761</c:v>
              </c:pt>
              <c:pt idx="18">
                <c:v>94718</c:v>
              </c:pt>
              <c:pt idx="19">
                <c:v>40735</c:v>
              </c:pt>
              <c:pt idx="20">
                <c:v>141303</c:v>
              </c:pt>
              <c:pt idx="21">
                <c:v>141669</c:v>
              </c:pt>
              <c:pt idx="22">
                <c:v>173649</c:v>
              </c:pt>
              <c:pt idx="23">
                <c:v>146696</c:v>
              </c:pt>
            </c:numLit>
          </c:val>
        </c:ser>
        <c:ser>
          <c:idx val="1"/>
          <c:order val="1"/>
          <c:tx>
            <c:v>向前預測</c:v>
          </c:tx>
          <c:spPr>
            <a:ln xmlns:a="http://schemas.openxmlformats.org/drawingml/2006/main" w="28575">
              <a:solidFill>
                <a:srgbClr val="D768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D76800"/>
              </a:solidFill>
            </c:spPr>
          </c:marker>
          <c:cat>
            <c:strLit>
              <c:ptCount val="24"/>
              <c:pt idx="0">
                <c:v>24-01</c:v>
              </c:pt>
              <c:pt idx="1">
                <c:v>24-02</c:v>
              </c:pt>
              <c:pt idx="2">
                <c:v>24-03</c:v>
              </c:pt>
              <c:pt idx="3">
                <c:v>24-04</c:v>
              </c:pt>
              <c:pt idx="4">
                <c:v>24-05</c:v>
              </c:pt>
              <c:pt idx="5">
                <c:v>24-06</c:v>
              </c:pt>
              <c:pt idx="6">
                <c:v>24-09</c:v>
              </c:pt>
              <c:pt idx="7">
                <c:v>24-10</c:v>
              </c:pt>
              <c:pt idx="8">
                <c:v>24-11</c:v>
              </c:pt>
              <c:pt idx="9">
                <c:v>24-12</c:v>
              </c:pt>
              <c:pt idx="10">
                <c:v>25-01</c:v>
              </c:pt>
              <c:pt idx="11">
                <c:v>25-02</c:v>
              </c:pt>
              <c:pt idx="12">
                <c:v>25-03</c:v>
              </c:pt>
              <c:pt idx="13">
                <c:v>25-04</c:v>
              </c:pt>
              <c:pt idx="14">
                <c:v>25-05</c:v>
              </c:pt>
              <c:pt idx="15">
                <c:v>25-10</c:v>
              </c:pt>
              <c:pt idx="16">
                <c:v>25-11</c:v>
              </c:pt>
              <c:pt idx="17">
                <c:v>25-12</c:v>
              </c:pt>
              <c:pt idx="18">
                <c:v>26-01</c:v>
              </c:pt>
              <c:pt idx="19">
                <c:v>26-02</c:v>
              </c:pt>
              <c:pt idx="20">
                <c:v>26-03</c:v>
              </c:pt>
              <c:pt idx="21">
                <c:v>26-04</c:v>
              </c:pt>
              <c:pt idx="22">
                <c:v>26-05</c:v>
              </c:pt>
              <c:pt idx="23">
                <c:v>26-06</c:v>
              </c:pt>
            </c:strLit>
          </c:cat>
          <c:val>
            <c:numLit>
              <c:formatCode>#,##0</c:formatCode>
              <c:ptCount val="24"/>
              <c:pt idx="0">
                <c:v>105281</c:v>
              </c:pt>
              <c:pt idx="1">
                <c:v>61709</c:v>
              </c:pt>
              <c:pt idx="2">
                <c:v>175922</c:v>
              </c:pt>
              <c:pt idx="3">
                <c:v>156436</c:v>
              </c:pt>
              <c:pt idx="4">
                <c:v>155293</c:v>
              </c:pt>
              <c:pt idx="5">
                <c:v>128355</c:v>
              </c:pt>
              <c:pt idx="6">
                <c:v>113159</c:v>
              </c:pt>
              <c:pt idx="7">
                <c:v>163800</c:v>
              </c:pt>
              <c:pt idx="8">
                <c:v>187012</c:v>
              </c:pt>
              <c:pt idx="9">
                <c:v>189794</c:v>
              </c:pt>
              <c:pt idx="10">
                <c:v>129328</c:v>
              </c:pt>
              <c:pt idx="11">
                <c:v>89045</c:v>
              </c:pt>
              <c:pt idx="12">
                <c:v>192703</c:v>
              </c:pt>
              <c:pt idx="13">
                <c:v>171347</c:v>
              </c:pt>
              <c:pt idx="14">
                <c:v>184205</c:v>
              </c:pt>
              <c:pt idx="15">
                <c:v>175342</c:v>
              </c:pt>
              <c:pt idx="16">
                <c:v>184199</c:v>
              </c:pt>
              <c:pt idx="17">
                <c:v>182574</c:v>
              </c:pt>
              <c:pt idx="18">
                <c:v>114916</c:v>
              </c:pt>
              <c:pt idx="19">
                <c:v>85052</c:v>
              </c:pt>
              <c:pt idx="20">
                <c:v>186427</c:v>
              </c:pt>
              <c:pt idx="21">
                <c:v>164630</c:v>
              </c:pt>
              <c:pt idx="22">
                <c:v>167296</c:v>
              </c:pt>
              <c:pt idx="23">
                <c:v>136822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向前驗證月份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25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用電量（kWh）</a:t>
                </a:r>
              </a:p>
            </c:rich>
          </c:tx>
          <c:overlay val="0"/>
        </c:title>
        <c:numFmt formatCode="#,##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  <c:majorUnit val="500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11111"/>
              </a:solidFill>
              <a:latin typeface="Microsoft JhengHei"/>
              <a:ea typeface="Microsoft JhengHei"/>
              <a:cs typeface="Microsoft Jheng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月耗電</c:v>
          </c:tx>
          <c:spPr>
            <a:solidFill xmlns:a="http://schemas.openxmlformats.org/drawingml/2006/main">
              <a:srgbClr val="0757A6"/>
            </a:solidFill>
          </c:spPr>
          <c:cat>
            <c:strLit>
              <c:ptCount val="4"/>
              <c:pt idx="0">
                <c:v>00–06</c:v>
              </c:pt>
              <c:pt idx="1">
                <c:v>06–12</c:v>
              </c:pt>
              <c:pt idx="2">
                <c:v>12–18</c:v>
              </c:pt>
              <c:pt idx="3">
                <c:v>18–24</c:v>
              </c:pt>
            </c:strLit>
          </c:cat>
          <c:val>
            <c:numLit>
              <c:formatCode>#,##0</c:formatCode>
              <c:ptCount val="4"/>
              <c:pt idx="0">
                <c:v>1514</c:v>
              </c:pt>
              <c:pt idx="1">
                <c:v>433</c:v>
              </c:pt>
              <c:pt idx="2">
                <c:v>1552</c:v>
              </c:pt>
              <c:pt idx="3">
                <c:v>1838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11111"/>
                  </a:solidFill>
                  <a:latin typeface="Microsoft JhengHei"/>
                  <a:ea typeface="Microsoft JhengHei"/>
                  <a:cs typeface="Microsoft Jheng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72768"/>
      </c:catAx>
      <c:valAx>
        <c:axId val="48672768"/>
        <c:scaling>
          <c:orientation val="minMax"/>
          <c:max val="22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月耗電（kWh）</a:t>
                </a:r>
              </a:p>
            </c:rich>
          </c:tx>
          <c:overlay val="0"/>
        </c:title>
        <c:numFmt formatCode="#,##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</a:p>
        </c:txPr>
        <c:crossAx val="48650112"/>
        <c:crossBetween val="between"/>
        <c:majorUnit val="5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179073CA-1E63-47BB-AAD8-5945C0AA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淡江大學｜大四專題口試</a:t>
            </a:r>
          </a:p>
        </p:txBody>
      </p:sp>
      <p:sp>
        <p:nvSpPr>
          <p:cNvPr id="2" name="cover-year">
            <a:extLst xmlns:a="http://schemas.openxmlformats.org/drawingml/2006/main">
              <a:ext uri="{FF2B5EF4-FFF2-40B4-BE49-F238E27FC236}">
                <a16:creationId xmlns:a16="http://schemas.microsoft.com/office/drawing/2014/main" id="{4F319FAE-1DAB-4DF3-A6A3-F4141013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0525"/>
            <a:ext cx="3886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2026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EA68ED3-629F-45CE-9C96-A83905F5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33625"/>
            <a:ext cx="10668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2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校園宿舍用電分析、預測與</a:t>
            </a:r>
          </a:p>
          <a:p xmlns:a="http://schemas.openxmlformats.org/drawingml/2006/main">
            <a:pPr algn="l">
              <a:defRPr sz="52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2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冷氣故障風險系統</a:t>
            </a:r>
          </a:p>
        </p:txBody>
      </p:sp>
      <p:sp>
        <p:nvSpPr>
          <p:cNvPr id="4" name="cover-meta">
            <a:extLst xmlns:a="http://schemas.openxmlformats.org/drawingml/2006/main">
              <a:ext uri="{FF2B5EF4-FFF2-40B4-BE49-F238E27FC236}">
                <a16:creationId xmlns:a16="http://schemas.microsoft.com/office/drawing/2014/main" id="{E7FFA860-E28D-4584-859A-FC604C80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102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學生：＿＿＿＿＿＿　指導教授：＿＿＿＿＿＿</a:t>
            </a:r>
          </a:p>
        </p:txBody>
      </p:sp>
    </p:spTree>
    <p:extLst>
      <p:ext uri="{BB962C8B-B14F-4D97-AF65-F5344CB8AC3E}">
        <p14:creationId xmlns:p14="http://schemas.microsoft.com/office/powerpoint/2010/main" val="8242374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E566D4D3-F924-4988-874F-3FAC05FC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宿舍用電不能只看帳單總額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892BCA62-17F1-42D1-BBF0-AA88BE0D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" name="problem-lead">
            <a:extLst xmlns:a="http://schemas.openxmlformats.org/drawingml/2006/main">
              <a:ext uri="{FF2B5EF4-FFF2-40B4-BE49-F238E27FC236}">
                <a16:creationId xmlns:a16="http://schemas.microsoft.com/office/drawing/2014/main" id="{11E1F063-8CB6-4345-A8E0-5A54DD68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同樣的月用電，可能來自住宿人數增加、開館時間變長、氣溫升高，或設備效率下降；若沒有把資料放在一起，管理者無法判斷原因。</a:t>
            </a:r>
          </a:p>
        </p:txBody>
      </p:sp>
      <p:sp>
        <p:nvSpPr>
          <p:cNvPr id="4" name="problem-panel">
            <a:extLst xmlns:a="http://schemas.openxmlformats.org/drawingml/2006/main">
              <a:ext uri="{FF2B5EF4-FFF2-40B4-BE49-F238E27FC236}">
                <a16:creationId xmlns:a16="http://schemas.microsoft.com/office/drawing/2014/main" id="{8E66D3BF-8B5E-491C-AAC0-A7AD1AD0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55245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lution-panel">
            <a:extLst xmlns:a="http://schemas.openxmlformats.org/drawingml/2006/main">
              <a:ext uri="{FF2B5EF4-FFF2-40B4-BE49-F238E27FC236}">
                <a16:creationId xmlns:a16="http://schemas.microsoft.com/office/drawing/2014/main" id="{22A5AE14-88A2-4D5B-9CCC-A103DD4C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38500"/>
            <a:ext cx="55245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8E9FF"/>
            </a:solidFill>
            <a:prstDash val="solid"/>
          </a:ln>
        </p:spPr>
      </p:sp>
      <p:sp>
        <p:nvSpPr>
          <p:cNvPr id="6" name="problem-panel-title">
            <a:extLst xmlns:a="http://schemas.openxmlformats.org/drawingml/2006/main">
              <a:ext uri="{FF2B5EF4-FFF2-40B4-BE49-F238E27FC236}">
                <a16:creationId xmlns:a16="http://schemas.microsoft.com/office/drawing/2014/main" id="{AF3E16C6-CD23-4B4D-9E5C-D804E747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5242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現在的困難</a:t>
            </a:r>
          </a:p>
        </p:txBody>
      </p:sp>
      <p:sp>
        <p:nvSpPr>
          <p:cNvPr id="7" name="solution-panel-title">
            <a:extLst xmlns:a="http://schemas.openxmlformats.org/drawingml/2006/main">
              <a:ext uri="{FF2B5EF4-FFF2-40B4-BE49-F238E27FC236}">
                <a16:creationId xmlns:a16="http://schemas.microsoft.com/office/drawing/2014/main" id="{7B14ADA0-DD73-405C-BE1F-FD7E7A9D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52425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rPr>
              <a:t>本專題的解法</a:t>
            </a:r>
          </a:p>
        </p:txBody>
      </p:sp>
      <p:sp>
        <p:nvSpPr>
          <p:cNvPr id="8" name="problem-details">
            <a:extLst xmlns:a="http://schemas.openxmlformats.org/drawingml/2006/main">
              <a:ext uri="{FF2B5EF4-FFF2-40B4-BE49-F238E27FC236}">
                <a16:creationId xmlns:a16="http://schemas.microsoft.com/office/drawing/2014/main" id="{D67C0558-DFA4-44FA-8EA8-F4014F99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4">
              <a:lnSpc>
                <a:spcPct val="116000"/>
              </a:lnSpc>
              <a:buNone/>
              <a:defRPr sz="172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分散的月資料缺少共同時間軸</a:t>
            </a:r>
          </a:p>
          <a:p xmlns:a="http://schemas.openxmlformats.org/drawingml/2006/main">
            <a:pPr marL="28" indent="-14">
              <a:lnSpc>
                <a:spcPct val="116000"/>
              </a:lnSpc>
              <a:buNone/>
              <a:defRPr sz="172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總量無法直接說明使用效率</a:t>
            </a:r>
          </a:p>
          <a:p xmlns:a="http://schemas.openxmlformats.org/drawingml/2006/main">
            <a:pPr marL="28" indent="-14">
              <a:lnSpc>
                <a:spcPct val="116000"/>
              </a:lnSpc>
              <a:buNone/>
              <a:defRPr sz="172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維修紀錄難以轉成保養優先順序</a:t>
            </a:r>
          </a:p>
        </p:txBody>
      </p:sp>
      <p:sp>
        <p:nvSpPr>
          <p:cNvPr id="9" name="solution-details">
            <a:extLst xmlns:a="http://schemas.openxmlformats.org/drawingml/2006/main">
              <a:ext uri="{FF2B5EF4-FFF2-40B4-BE49-F238E27FC236}">
                <a16:creationId xmlns:a16="http://schemas.microsoft.com/office/drawing/2014/main" id="{E83F5DD0-E7B1-4786-9C29-175A69AB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05375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4">
              <a:lnSpc>
                <a:spcPct val="116000"/>
              </a:lnSpc>
              <a:buNone/>
              <a:defRPr sz="172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以年月整合用電、住宿與氣候</a:t>
            </a:r>
          </a:p>
          <a:p xmlns:a="http://schemas.openxmlformats.org/drawingml/2006/main">
            <a:pPr marL="28" indent="-14">
              <a:lnSpc>
                <a:spcPct val="116000"/>
              </a:lnSpc>
              <a:buNone/>
              <a:defRPr sz="172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用交叉驗證呈現預測誤差</a:t>
            </a:r>
          </a:p>
          <a:p xmlns:a="http://schemas.openxmlformats.org/drawingml/2006/main">
            <a:pPr marL="28" indent="-14">
              <a:lnSpc>
                <a:spcPct val="116000"/>
              </a:lnSpc>
              <a:buNone/>
              <a:defRPr sz="172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批次估算冷氣耗電與故障風險</a:t>
            </a:r>
          </a:p>
        </p:txBody>
      </p:sp>
    </p:spTree>
    <p:extLst>
      <p:ext uri="{BB962C8B-B14F-4D97-AF65-F5344CB8AC3E}">
        <p14:creationId xmlns:p14="http://schemas.microsoft.com/office/powerpoint/2010/main" val="11457601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CFC788DB-9194-4715-8B70-A6CB50F4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三個問題把用電、預測與維護串成一條研究線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DD2AD82E-41AA-481B-909D-C1184CD6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3" name="question-number-1">
            <a:extLst xmlns:a="http://schemas.openxmlformats.org/drawingml/2006/main">
              <a:ext uri="{FF2B5EF4-FFF2-40B4-BE49-F238E27FC236}">
                <a16:creationId xmlns:a16="http://schemas.microsoft.com/office/drawing/2014/main" id="{F762ED6B-5AA3-4194-885F-70A2A59A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71625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B8BC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450" b="1">
                <a:solidFill>
                  <a:srgbClr val="B8BCC4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question-title-1">
            <a:extLst xmlns:a="http://schemas.openxmlformats.org/drawingml/2006/main">
              <a:ext uri="{FF2B5EF4-FFF2-40B4-BE49-F238E27FC236}">
                <a16:creationId xmlns:a16="http://schemas.microsoft.com/office/drawing/2014/main" id="{3CCA57BC-E8C8-4C56-8F2B-34769372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385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哪些條件影響用電？</a:t>
            </a:r>
          </a:p>
        </p:txBody>
      </p:sp>
      <p:sp>
        <p:nvSpPr>
          <p:cNvPr id="5" name="question-body-1">
            <a:extLst xmlns:a="http://schemas.openxmlformats.org/drawingml/2006/main">
              <a:ext uri="{FF2B5EF4-FFF2-40B4-BE49-F238E27FC236}">
                <a16:creationId xmlns:a16="http://schemas.microsoft.com/office/drawing/2014/main" id="{8CA8EE33-995F-4C3B-B1D6-CB4B4870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8625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比較住宿人日、冷房度日、開館天數與總用電的關係。</a:t>
            </a:r>
          </a:p>
        </p:txBody>
      </p:sp>
      <p:sp>
        <p:nvSpPr>
          <p:cNvPr id="6" name="question-number-2">
            <a:extLst xmlns:a="http://schemas.openxmlformats.org/drawingml/2006/main">
              <a:ext uri="{FF2B5EF4-FFF2-40B4-BE49-F238E27FC236}">
                <a16:creationId xmlns:a16="http://schemas.microsoft.com/office/drawing/2014/main" id="{642AF8A7-CCDA-47C6-A9B0-66324414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571625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450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question-title-2">
            <a:extLst xmlns:a="http://schemas.openxmlformats.org/drawingml/2006/main">
              <a:ext uri="{FF2B5EF4-FFF2-40B4-BE49-F238E27FC236}">
                <a16:creationId xmlns:a16="http://schemas.microsoft.com/office/drawing/2014/main" id="{E1301B6E-E102-41BF-8F4B-9E2B9C09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385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模型能否預測未見月份？</a:t>
            </a:r>
          </a:p>
        </p:txBody>
      </p:sp>
      <p:sp>
        <p:nvSpPr>
          <p:cNvPr id="8" name="question-body-2">
            <a:extLst xmlns:a="http://schemas.openxmlformats.org/drawingml/2006/main">
              <a:ext uri="{FF2B5EF4-FFF2-40B4-BE49-F238E27FC236}">
                <a16:creationId xmlns:a16="http://schemas.microsoft.com/office/drawing/2014/main" id="{BD151208-19D7-484C-9E37-94B06CA3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28625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用季節基準與 Ridge 殘差修正，採逐月向前驗證呈現預測誤差。</a:t>
            </a:r>
          </a:p>
        </p:txBody>
      </p:sp>
      <p:sp>
        <p:nvSpPr>
          <p:cNvPr id="9" name="question-number-3">
            <a:extLst xmlns:a="http://schemas.openxmlformats.org/drawingml/2006/main">
              <a:ext uri="{FF2B5EF4-FFF2-40B4-BE49-F238E27FC236}">
                <a16:creationId xmlns:a16="http://schemas.microsoft.com/office/drawing/2014/main" id="{2E62F9CA-DCCB-4FEB-9287-5A0BBE43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71625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B8BCC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450" b="1">
                <a:solidFill>
                  <a:srgbClr val="B8BCC4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0" name="question-title-3">
            <a:extLst xmlns:a="http://schemas.openxmlformats.org/drawingml/2006/main">
              <a:ext uri="{FF2B5EF4-FFF2-40B4-BE49-F238E27FC236}">
                <a16:creationId xmlns:a16="http://schemas.microsoft.com/office/drawing/2014/main" id="{6AFCB479-03CD-4820-8D0A-F397C9F1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38500"/>
            <a:ext cx="342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哪些冷氣應優先處理？</a:t>
            </a:r>
          </a:p>
        </p:txBody>
      </p:sp>
      <p:sp>
        <p:nvSpPr>
          <p:cNvPr id="11" name="question-body-3">
            <a:extLst xmlns:a="http://schemas.openxmlformats.org/drawingml/2006/main">
              <a:ext uri="{FF2B5EF4-FFF2-40B4-BE49-F238E27FC236}">
                <a16:creationId xmlns:a16="http://schemas.microsoft.com/office/drawing/2014/main" id="{3B67B418-22F7-4540-8B85-B17B5C13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8625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依機型、機齡、保養與故障紀錄，產生分時耗電與相對風險排序。</a:t>
            </a:r>
          </a:p>
        </p:txBody>
      </p:sp>
    </p:spTree>
    <p:extLst>
      <p:ext uri="{BB962C8B-B14F-4D97-AF65-F5344CB8AC3E}">
        <p14:creationId xmlns:p14="http://schemas.microsoft.com/office/powerpoint/2010/main" val="18291469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0EB5960C-95D2-4FF9-8804-E98623E7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資料先被檢核，再進入兩條可解釋的模型路徑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C8BCB231-DF9B-43C9-8DC4-54C87CB0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3" name="architecture-lead">
            <a:extLst xmlns:a="http://schemas.openxmlformats.org/drawingml/2006/main">
              <a:ext uri="{FF2B5EF4-FFF2-40B4-BE49-F238E27FC236}">
                <a16:creationId xmlns:a16="http://schemas.microsoft.com/office/drawing/2014/main" id="{816EE568-DC2F-4F31-912F-32A76604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334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月資料用來分析總用電與下月預測；設備清冊則用來估算分時冷氣耗電與維護風險。兩條路徑共享資料品質規則與下載結果。</a:t>
            </a:r>
          </a:p>
        </p:txBody>
      </p:sp>
      <p:sp>
        <p:nvSpPr>
          <p:cNvPr id="4" name="architecture-points">
            <a:extLst xmlns:a="http://schemas.openxmlformats.org/drawingml/2006/main">
              <a:ext uri="{FF2B5EF4-FFF2-40B4-BE49-F238E27FC236}">
                <a16:creationId xmlns:a16="http://schemas.microsoft.com/office/drawing/2014/main" id="{C22A4542-319B-4602-99B7-9905CF3C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514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4">
              <a:lnSpc>
                <a:spcPct val="116000"/>
              </a:lnSpc>
              <a:buNone/>
              <a:defRPr sz="165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年月排序與範圍檢核</a:t>
            </a:r>
          </a:p>
          <a:p xmlns:a="http://schemas.openxmlformats.org/drawingml/2006/main">
            <a:pPr marL="28" indent="-14">
              <a:lnSpc>
                <a:spcPct val="116000"/>
              </a:lnSpc>
              <a:buNone/>
              <a:defRPr sz="165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人日、冷房度日等衍生欄位</a:t>
            </a:r>
          </a:p>
          <a:p xmlns:a="http://schemas.openxmlformats.org/drawingml/2006/main">
            <a:pPr marL="28" indent="-14">
              <a:lnSpc>
                <a:spcPct val="116000"/>
              </a:lnSpc>
              <a:buNone/>
              <a:defRPr sz="165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模型指標、參考範圍與外插提醒</a:t>
            </a:r>
          </a:p>
          <a:p xmlns:a="http://schemas.openxmlformats.org/drawingml/2006/main">
            <a:pPr marL="28" indent="-14">
              <a:lnSpc>
                <a:spcPct val="116000"/>
              </a:lnSpc>
              <a:buNone/>
              <a:defRPr sz="165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圖表、CSV 與完整工作簿下載</a:t>
            </a:r>
          </a:p>
        </p:txBody>
      </p:sp>
      <p:sp>
        <p:nvSpPr>
          <p:cNvPr id="5" name="architecture-field">
            <a:extLst xmlns:a="http://schemas.openxmlformats.org/drawingml/2006/main">
              <a:ext uri="{FF2B5EF4-FFF2-40B4-BE49-F238E27FC236}">
                <a16:creationId xmlns:a16="http://schemas.microsoft.com/office/drawing/2014/main" id="{53858010-A655-4C09-A41B-1F5E991E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123950"/>
            <a:ext cx="5524500" cy="4876800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8E9FF"/>
            </a:solidFill>
            <a:prstDash val="solid"/>
          </a:ln>
        </p:spPr>
      </p:sp>
      <p:cxnSp>
        <p:nvCxnSpPr>
          <p:cNvPr id="25" name="architecture-connector-1"/>
          <p:cNvCxnSpPr/>
          <p:nvPr/>
        </p:nvCxnSpPr>
        <p:spPr>
          <a:xfrm xmlns:a="http://schemas.openxmlformats.org/drawingml/2006/main">
            <a:off x="9029700" y="198120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757A6"/>
            </a:solidFill>
            <a:prstDash val="solid"/>
          </a:ln>
        </p:spPr>
      </p:cxnSp>
      <p:cxnSp>
        <p:nvCxnSpPr>
          <p:cNvPr id="26" name="architecture-connector-2"/>
          <p:cNvCxnSpPr/>
          <p:nvPr/>
        </p:nvCxnSpPr>
        <p:spPr>
          <a:xfrm xmlns:a="http://schemas.openxmlformats.org/drawingml/2006/main">
            <a:off x="9029700" y="287655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757A6"/>
            </a:solidFill>
            <a:prstDash val="solid"/>
          </a:ln>
        </p:spPr>
      </p:cxnSp>
      <p:cxnSp>
        <p:nvCxnSpPr>
          <p:cNvPr id="27" name="architecture-connector-3"/>
          <p:cNvCxnSpPr/>
          <p:nvPr/>
        </p:nvCxnSpPr>
        <p:spPr>
          <a:xfrm xmlns:a="http://schemas.openxmlformats.org/drawingml/2006/main">
            <a:off x="9029700" y="377190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757A6"/>
            </a:solidFill>
            <a:prstDash val="solid"/>
          </a:ln>
        </p:spPr>
      </p:cxnSp>
      <p:cxnSp>
        <p:nvCxnSpPr>
          <p:cNvPr id="28" name="architecture-connector-4"/>
          <p:cNvCxnSpPr/>
          <p:nvPr/>
        </p:nvCxnSpPr>
        <p:spPr>
          <a:xfrm xmlns:a="http://schemas.openxmlformats.org/drawingml/2006/main">
            <a:off x="9029700" y="466725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757A6"/>
            </a:solidFill>
            <a:prstDash val="solid"/>
          </a:ln>
        </p:spPr>
      </p:cxnSp>
      <p:sp>
        <p:nvSpPr>
          <p:cNvPr id="10" name="architecture-node-1">
            <a:extLst xmlns:a="http://schemas.openxmlformats.org/drawingml/2006/main">
              <a:ext uri="{FF2B5EF4-FFF2-40B4-BE49-F238E27FC236}">
                <a16:creationId xmlns:a16="http://schemas.microsoft.com/office/drawing/2014/main" id="{35C8521D-F7DE-4BE8-9141-2042F107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52550"/>
            <a:ext cx="4572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architecture-node-text-1">
            <a:extLst xmlns:a="http://schemas.openxmlformats.org/drawingml/2006/main">
              <a:ext uri="{FF2B5EF4-FFF2-40B4-BE49-F238E27FC236}">
                <a16:creationId xmlns:a16="http://schemas.microsoft.com/office/drawing/2014/main" id="{45EACC84-E5C9-48A9-B627-2853289A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5049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校方 Excel 與氣象資料</a:t>
            </a:r>
          </a:p>
        </p:txBody>
      </p:sp>
      <p:sp>
        <p:nvSpPr>
          <p:cNvPr id="12" name="architecture-node-2">
            <a:extLst xmlns:a="http://schemas.openxmlformats.org/drawingml/2006/main">
              <a:ext uri="{FF2B5EF4-FFF2-40B4-BE49-F238E27FC236}">
                <a16:creationId xmlns:a16="http://schemas.microsoft.com/office/drawing/2014/main" id="{05170101-C25D-4D2E-A146-61705056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47900"/>
            <a:ext cx="4572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architecture-node-text-2">
            <a:extLst xmlns:a="http://schemas.openxmlformats.org/drawingml/2006/main">
              <a:ext uri="{FF2B5EF4-FFF2-40B4-BE49-F238E27FC236}">
                <a16:creationId xmlns:a16="http://schemas.microsoft.com/office/drawing/2014/main" id="{76CBF0B2-191B-41B1-92FB-038EA0EB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003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欄位、空值與關係檢核</a:t>
            </a:r>
          </a:p>
        </p:txBody>
      </p:sp>
      <p:sp>
        <p:nvSpPr>
          <p:cNvPr id="14" name="architecture-node-3">
            <a:extLst xmlns:a="http://schemas.openxmlformats.org/drawingml/2006/main">
              <a:ext uri="{FF2B5EF4-FFF2-40B4-BE49-F238E27FC236}">
                <a16:creationId xmlns:a16="http://schemas.microsoft.com/office/drawing/2014/main" id="{E96EA7BF-8D47-426F-835F-C1F35ECD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43250"/>
            <a:ext cx="4572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architecture-node-text-3">
            <a:extLst xmlns:a="http://schemas.openxmlformats.org/drawingml/2006/main">
              <a:ext uri="{FF2B5EF4-FFF2-40B4-BE49-F238E27FC236}">
                <a16:creationId xmlns:a16="http://schemas.microsoft.com/office/drawing/2014/main" id="{2D2D485D-3E54-4646-90C5-54DBA6BF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956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住宿人日與冷房度日</a:t>
            </a:r>
          </a:p>
        </p:txBody>
      </p:sp>
      <p:sp>
        <p:nvSpPr>
          <p:cNvPr id="16" name="architecture-node-4">
            <a:extLst xmlns:a="http://schemas.openxmlformats.org/drawingml/2006/main">
              <a:ext uri="{FF2B5EF4-FFF2-40B4-BE49-F238E27FC236}">
                <a16:creationId xmlns:a16="http://schemas.microsoft.com/office/drawing/2014/main" id="{4D8F7D0E-2DA1-4237-ADE6-8175DE54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38600"/>
            <a:ext cx="4572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8E9FF"/>
          </a:solidFill>
          <a:ln xmlns:a="http://schemas.openxmlformats.org/drawingml/2006/main" w="9525">
            <a:solidFill>
              <a:srgbClr val="0757A6"/>
            </a:solidFill>
            <a:prstDash val="solid"/>
          </a:ln>
        </p:spPr>
      </p:sp>
      <p:sp>
        <p:nvSpPr>
          <p:cNvPr id="17" name="architecture-node-text-4">
            <a:extLst xmlns:a="http://schemas.openxmlformats.org/drawingml/2006/main">
              <a:ext uri="{FF2B5EF4-FFF2-40B4-BE49-F238E27FC236}">
                <a16:creationId xmlns:a16="http://schemas.microsoft.com/office/drawing/2014/main" id="{0C21D182-15A5-4B36-95DF-316BA944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910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rPr>
              <a:t>Ridge／Logistic 模型</a:t>
            </a:r>
          </a:p>
        </p:txBody>
      </p:sp>
      <p:sp>
        <p:nvSpPr>
          <p:cNvPr id="18" name="architecture-node-5">
            <a:extLst xmlns:a="http://schemas.openxmlformats.org/drawingml/2006/main">
              <a:ext uri="{FF2B5EF4-FFF2-40B4-BE49-F238E27FC236}">
                <a16:creationId xmlns:a16="http://schemas.microsoft.com/office/drawing/2014/main" id="{EB379C0D-59BA-4355-B1D0-92A738CD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33950"/>
            <a:ext cx="4572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architecture-node-text-5">
            <a:extLst xmlns:a="http://schemas.openxmlformats.org/drawingml/2006/main">
              <a:ext uri="{FF2B5EF4-FFF2-40B4-BE49-F238E27FC236}">
                <a16:creationId xmlns:a16="http://schemas.microsoft.com/office/drawing/2014/main" id="{63DDC1DC-BABD-4C02-8980-AC40DAE2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863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趨勢、預測與維護排序</a:t>
            </a:r>
          </a:p>
        </p:txBody>
      </p:sp>
    </p:spTree>
    <p:extLst>
      <p:ext uri="{BB962C8B-B14F-4D97-AF65-F5344CB8AC3E}">
        <p14:creationId xmlns:p14="http://schemas.microsoft.com/office/powerpoint/2010/main" val="9541665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0A129F0B-FC2D-455F-92F8-77491D4E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資料設計同時支援分析、模型與後續稽核</a:t>
            </a:r>
          </a:p>
        </p:txBody>
      </p:sp>
      <p:sp>
        <p:nvSpPr>
          <p:cNvPr id="2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A945BB85-784C-4AA0-A3FE-415AEF9A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3" name="data-table-lead">
            <a:extLst xmlns:a="http://schemas.openxmlformats.org/drawingml/2006/main">
              <a:ext uri="{FF2B5EF4-FFF2-40B4-BE49-F238E27FC236}">
                <a16:creationId xmlns:a16="http://schemas.microsoft.com/office/drawing/2014/main" id="{185D9012-BB80-41B9-9D84-BD8941BC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六份校方資料先去識別與彙整，再依用途進入用電模型或冷氣風險模型。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00050" y="2095500"/>
          <a:ext xmlns:a="http://schemas.openxmlformats.org/drawingml/2006/main" cx="11391900" cy="3905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428750"/>
                <a:gridCol w="3143250"/>
                <a:gridCol w="1428750"/>
                <a:gridCol w="2571750"/>
                <a:gridCol w="2819400"/>
              </a:tblGrid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資料類型</a:t>
                      </a:r>
                    </a:p>
                  </a:txBody>
                  <a:tcPr marL="91440" marR="91440" marT="45720" marB="45720">
                    <a:solidFill>
                      <a:srgbClr val="075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代表欄位</a:t>
                      </a:r>
                    </a:p>
                  </a:txBody>
                  <a:tcPr marL="91440" marR="91440" marT="45720" marB="45720">
                    <a:solidFill>
                      <a:srgbClr val="075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單位</a:t>
                      </a:r>
                    </a:p>
                  </a:txBody>
                  <a:tcPr marL="91440" marR="91440" marT="45720" marB="45720">
                    <a:solidFill>
                      <a:srgbClr val="075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主要檢核</a:t>
                      </a:r>
                    </a:p>
                  </a:txBody>
                  <a:tcPr marL="91440" marR="91440" marT="45720" marB="45720">
                    <a:solidFill>
                      <a:srgbClr val="0757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研究用途</a:t>
                      </a:r>
                    </a:p>
                  </a:txBody>
                  <a:tcPr marL="91440" marR="91440" marT="45720" marB="45720">
                    <a:solidFill>
                      <a:srgbClr val="0757A6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時間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年份、月份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年月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同年月不可重複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跨年度排序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用電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三館月用電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kWh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三館皆有效才合計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趨勢／預測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住宿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住宿人數、住宿天數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人／天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天數≤開館天數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住宿人日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營運氣候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開館天數、平均溫度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天／°C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合理範圍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冷房度日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冷氣清冊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機型、功率、台數、機齡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kW／台／年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型號與範圍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耗電／風險</a:t>
                      </a:r>
                    </a:p>
                  </a:txBody>
                  <a:tcPr marL="91440" marR="91440" marT="45720" marB="45720"/>
                </a:tc>
              </a:tr>
              <a:tr h="557893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維護事件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保養、巡檢、故障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日期／類別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事件與設備 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>
                          <a:solidFill>
                            <a:srgbClr val="111111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重新校準模型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9292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23F6B167-B0C1-44AD-B390-A8142F2F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2024 年三館合計用電呈現明顯學期與暑期落差</a:t>
            </a:r>
          </a:p>
        </p:txBody>
      </p:sp>
      <p:sp>
        <p:nvSpPr>
          <p:cNvPr id="2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960192A6-4B22-40A0-B9F1-41DCF030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00050" y="1381125"/>
          <a:ext xmlns:a="http://schemas.openxmlformats.org/drawingml/2006/main" cx="514350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f93ab6782d4746"/>
          </a:graphicData>
        </a:graphic>
      </p:graphicFrame>
      <p:sp>
        <p:nvSpPr>
          <p:cNvPr id="4" name="monthly-card-1">
            <a:extLst xmlns:a="http://schemas.openxmlformats.org/drawingml/2006/main">
              <a:ext uri="{FF2B5EF4-FFF2-40B4-BE49-F238E27FC236}">
                <a16:creationId xmlns:a16="http://schemas.microsoft.com/office/drawing/2014/main" id="{F28776AB-896F-48AB-B157-5CFB766C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333500"/>
            <a:ext cx="5524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8E9FF"/>
            </a:solidFill>
            <a:prstDash val="solid"/>
          </a:ln>
        </p:spPr>
      </p:sp>
      <p:sp>
        <p:nvSpPr>
          <p:cNvPr id="5" name="monthly-stat-1">
            <a:extLst xmlns:a="http://schemas.openxmlformats.org/drawingml/2006/main">
              <a:ext uri="{FF2B5EF4-FFF2-40B4-BE49-F238E27FC236}">
                <a16:creationId xmlns:a16="http://schemas.microsoft.com/office/drawing/2014/main" id="{86D66ED6-FDA8-4CBF-9296-FE5CC2D3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621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rPr>
              <a:t>1,770,943 kWh</a:t>
            </a:r>
          </a:p>
        </p:txBody>
      </p:sp>
      <p:sp>
        <p:nvSpPr>
          <p:cNvPr id="6" name="monthly-label-1">
            <a:extLst xmlns:a="http://schemas.openxmlformats.org/drawingml/2006/main">
              <a:ext uri="{FF2B5EF4-FFF2-40B4-BE49-F238E27FC236}">
                <a16:creationId xmlns:a16="http://schemas.microsoft.com/office/drawing/2014/main" id="{37713A12-1D7D-4247-80B9-9BE378A5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2024 年三館合計</a:t>
            </a:r>
          </a:p>
        </p:txBody>
      </p:sp>
      <p:sp>
        <p:nvSpPr>
          <p:cNvPr id="7" name="monthly-card-2">
            <a:extLst xmlns:a="http://schemas.openxmlformats.org/drawingml/2006/main">
              <a:ext uri="{FF2B5EF4-FFF2-40B4-BE49-F238E27FC236}">
                <a16:creationId xmlns:a16="http://schemas.microsoft.com/office/drawing/2014/main" id="{4905A157-CE97-405A-93B2-1CADDBB8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71800"/>
            <a:ext cx="5524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nthly-stat-2">
            <a:extLst xmlns:a="http://schemas.openxmlformats.org/drawingml/2006/main">
              <a:ext uri="{FF2B5EF4-FFF2-40B4-BE49-F238E27FC236}">
                <a16:creationId xmlns:a16="http://schemas.microsoft.com/office/drawing/2014/main" id="{84176B88-9A9F-4B8F-B0E8-B5768DF3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004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202,449 kWh</a:t>
            </a:r>
          </a:p>
        </p:txBody>
      </p:sp>
      <p:sp>
        <p:nvSpPr>
          <p:cNvPr id="9" name="monthly-label-2">
            <a:extLst xmlns:a="http://schemas.openxmlformats.org/drawingml/2006/main">
              <a:ext uri="{FF2B5EF4-FFF2-40B4-BE49-F238E27FC236}">
                <a16:creationId xmlns:a16="http://schemas.microsoft.com/office/drawing/2014/main" id="{4C9ECF8D-6958-4BE9-AFBE-BC42C22E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909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12 月最高</a:t>
            </a:r>
          </a:p>
        </p:txBody>
      </p:sp>
      <p:sp>
        <p:nvSpPr>
          <p:cNvPr id="10" name="monthly-card-3">
            <a:extLst xmlns:a="http://schemas.openxmlformats.org/drawingml/2006/main">
              <a:ext uri="{FF2B5EF4-FFF2-40B4-BE49-F238E27FC236}">
                <a16:creationId xmlns:a16="http://schemas.microsoft.com/office/drawing/2014/main" id="{05E83220-E0CD-4054-8F99-B612D915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10100"/>
            <a:ext cx="5524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onthly-stat-3">
            <a:extLst xmlns:a="http://schemas.openxmlformats.org/drawingml/2006/main">
              <a:ext uri="{FF2B5EF4-FFF2-40B4-BE49-F238E27FC236}">
                <a16:creationId xmlns:a16="http://schemas.microsoft.com/office/drawing/2014/main" id="{EDD07722-63B3-46A0-AD03-442371746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387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6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61,178 kWh</a:t>
            </a:r>
          </a:p>
        </p:txBody>
      </p:sp>
      <p:sp>
        <p:nvSpPr>
          <p:cNvPr id="12" name="monthly-label-3">
            <a:extLst xmlns:a="http://schemas.openxmlformats.org/drawingml/2006/main">
              <a:ext uri="{FF2B5EF4-FFF2-40B4-BE49-F238E27FC236}">
                <a16:creationId xmlns:a16="http://schemas.microsoft.com/office/drawing/2014/main" id="{00E8341A-194E-4944-9192-ABCB9917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292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8 月最低</a:t>
            </a:r>
          </a:p>
        </p:txBody>
      </p:sp>
      <p:sp>
        <p:nvSpPr>
          <p:cNvPr id="13" name="demo-data-footer">
            <a:extLst xmlns:a="http://schemas.openxmlformats.org/drawingml/2006/main">
              <a:ext uri="{FF2B5EF4-FFF2-40B4-BE49-F238E27FC236}">
                <a16:creationId xmlns:a16="http://schemas.microsoft.com/office/drawing/2014/main" id="{48DE9F32-E41B-4F5E-B9B2-888EF5A2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正式資料｜公開層僅含三館合計或彙整結果；設備級排序不公開</a:t>
            </a:r>
          </a:p>
        </p:txBody>
      </p:sp>
    </p:spTree>
    <p:extLst>
      <p:ext uri="{BB962C8B-B14F-4D97-AF65-F5344CB8AC3E}">
        <p14:creationId xmlns:p14="http://schemas.microsoft.com/office/powerpoint/2010/main" val="153316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39E90918-D116-4135-8EC1-B1F3F957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136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逐月向前驗證顯示模型優於季節基準，但誤差仍需揭露</a:t>
            </a:r>
          </a:p>
        </p:txBody>
      </p:sp>
      <p:sp>
        <p:nvSpPr>
          <p:cNvPr id="2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15876F0E-5E58-4DA7-A552-91966C30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400050" y="1381125"/>
          <a:ext xmlns:a="http://schemas.openxmlformats.org/drawingml/2006/main" cx="552450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a129631a5b4a67"/>
          </a:graphicData>
        </a:graphic>
      </p:graphicFrame>
      <p:sp>
        <p:nvSpPr>
          <p:cNvPr id="4" name="ridge-summary">
            <a:extLst xmlns:a="http://schemas.openxmlformats.org/drawingml/2006/main">
              <a:ext uri="{FF2B5EF4-FFF2-40B4-BE49-F238E27FC236}">
                <a16:creationId xmlns:a16="http://schemas.microsoft.com/office/drawing/2014/main" id="{EA52ABD5-E713-4EDE-BCC5-4BACB39F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524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24 個逐月向前測試月份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MAE 21,333 kWh｜sMAPE 16.7%</a:t>
            </a:r>
          </a:p>
        </p:txBody>
      </p:sp>
      <p:sp>
        <p:nvSpPr>
          <p:cNvPr id="5" name="ridge-r2-panel">
            <a:extLst xmlns:a="http://schemas.openxmlformats.org/drawingml/2006/main">
              <a:ext uri="{FF2B5EF4-FFF2-40B4-BE49-F238E27FC236}">
                <a16:creationId xmlns:a16="http://schemas.microsoft.com/office/drawing/2014/main" id="{5775F369-3ED5-4769-BDBA-DAA08545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33750"/>
            <a:ext cx="2571750" cy="26670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2F7FF"/>
          </a:solidFill>
          <a:ln xmlns:a="http://schemas.openxmlformats.org/drawingml/2006/main" w="9525">
            <a:solidFill>
              <a:srgbClr val="D8E9FF"/>
            </a:solidFill>
            <a:prstDash val="solid"/>
          </a:ln>
        </p:spPr>
      </p:sp>
      <p:sp>
        <p:nvSpPr>
          <p:cNvPr id="6" name="ridge-baseline-panel">
            <a:extLst xmlns:a="http://schemas.openxmlformats.org/drawingml/2006/main">
              <a:ext uri="{FF2B5EF4-FFF2-40B4-BE49-F238E27FC236}">
                <a16:creationId xmlns:a16="http://schemas.microsoft.com/office/drawing/2014/main" id="{D0FF9202-537E-4D2D-ABA1-FDA99748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33750"/>
            <a:ext cx="2571750" cy="26670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idge-r2">
            <a:extLst xmlns:a="http://schemas.openxmlformats.org/drawingml/2006/main">
              <a:ext uri="{FF2B5EF4-FFF2-40B4-BE49-F238E27FC236}">
                <a16:creationId xmlns:a16="http://schemas.microsoft.com/office/drawing/2014/main" id="{6E4B8219-92F3-492B-8F4C-5EDC0475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67125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rPr>
              <a:t>0.586</a:t>
            </a:r>
          </a:p>
        </p:txBody>
      </p:sp>
      <p:sp>
        <p:nvSpPr>
          <p:cNvPr id="8" name="ridge-r2-label">
            <a:extLst xmlns:a="http://schemas.openxmlformats.org/drawingml/2006/main">
              <a:ext uri="{FF2B5EF4-FFF2-40B4-BE49-F238E27FC236}">
                <a16:creationId xmlns:a16="http://schemas.microsoft.com/office/drawing/2014/main" id="{1A29CC91-D66C-4D59-8CC6-F2809148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006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向前驗證 R²</a:t>
            </a:r>
          </a:p>
        </p:txBody>
      </p:sp>
      <p:sp>
        <p:nvSpPr>
          <p:cNvPr id="9" name="ridge-baseline">
            <a:extLst xmlns:a="http://schemas.openxmlformats.org/drawingml/2006/main">
              <a:ext uri="{FF2B5EF4-FFF2-40B4-BE49-F238E27FC236}">
                <a16:creationId xmlns:a16="http://schemas.microsoft.com/office/drawing/2014/main" id="{0DFA8189-E780-4147-B641-2075198D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67125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7.4%</a:t>
            </a:r>
          </a:p>
        </p:txBody>
      </p:sp>
      <p:sp>
        <p:nvSpPr>
          <p:cNvPr id="10" name="ridge-baseline-label">
            <a:extLst xmlns:a="http://schemas.openxmlformats.org/drawingml/2006/main">
              <a:ext uri="{FF2B5EF4-FFF2-40B4-BE49-F238E27FC236}">
                <a16:creationId xmlns:a16="http://schemas.microsoft.com/office/drawing/2014/main" id="{257371FC-2A16-483B-830A-DF52F7D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05375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MAE 相對基準改善</a:t>
            </a:r>
          </a:p>
        </p:txBody>
      </p:sp>
      <p:sp>
        <p:nvSpPr>
          <p:cNvPr id="11" name="demo-data-footer">
            <a:extLst xmlns:a="http://schemas.openxmlformats.org/drawingml/2006/main">
              <a:ext uri="{FF2B5EF4-FFF2-40B4-BE49-F238E27FC236}">
                <a16:creationId xmlns:a16="http://schemas.microsoft.com/office/drawing/2014/main" id="{80808611-B5EB-4B82-A7AD-12CA44F1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正式資料｜公開層僅含三館合計或彙整結果；設備級排序不公開</a:t>
            </a:r>
          </a:p>
        </p:txBody>
      </p:sp>
    </p:spTree>
    <p:extLst>
      <p:ext uri="{BB962C8B-B14F-4D97-AF65-F5344CB8AC3E}">
        <p14:creationId xmlns:p14="http://schemas.microsoft.com/office/powerpoint/2010/main" val="16444077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DC96302C-124C-4757-9902-A69BCC51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冷氣模組同時回答何時耗電與哪些設備先保養</a:t>
            </a:r>
          </a:p>
        </p:txBody>
      </p:sp>
      <p:sp>
        <p:nvSpPr>
          <p:cNvPr id="2" name="slide-8-number">
            <a:extLst xmlns:a="http://schemas.openxmlformats.org/drawingml/2006/main">
              <a:ext uri="{FF2B5EF4-FFF2-40B4-BE49-F238E27FC236}">
                <a16:creationId xmlns:a16="http://schemas.microsoft.com/office/drawing/2014/main" id="{30654C5F-F0C3-4229-A0F7-F4E267C1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3" name="ac-chart-frame">
            <a:extLst xmlns:a="http://schemas.openxmlformats.org/drawingml/2006/main">
              <a:ext uri="{FF2B5EF4-FFF2-40B4-BE49-F238E27FC236}">
                <a16:creationId xmlns:a16="http://schemas.microsoft.com/office/drawing/2014/main" id="{D851ECE9-8AB8-441E-AEF0-042B4804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5524500" cy="514350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5000625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0b89bc29d234f2a"/>
          </a:graphicData>
        </a:graphic>
      </p:graphicFrame>
      <p:sp>
        <p:nvSpPr>
          <p:cNvPr id="5" name="ac-summary">
            <a:extLst xmlns:a="http://schemas.openxmlformats.org/drawingml/2006/main">
              <a:ext uri="{FF2B5EF4-FFF2-40B4-BE49-F238E27FC236}">
                <a16:creationId xmlns:a16="http://schemas.microsoft.com/office/drawing/2014/main" id="{9F97D84F-AA6C-4B81-B42E-0BD69F4C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71625"/>
            <a:ext cx="51911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50 台變頻一級能效｜1.45 kW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平均溫度 25°C｜設定 26°C｜30 天</a:t>
            </a:r>
          </a:p>
        </p:txBody>
      </p:sp>
      <p:sp>
        <p:nvSpPr>
          <p:cNvPr id="6" name="ac-energy">
            <a:extLst xmlns:a="http://schemas.openxmlformats.org/drawingml/2006/main">
              <a:ext uri="{FF2B5EF4-FFF2-40B4-BE49-F238E27FC236}">
                <a16:creationId xmlns:a16="http://schemas.microsoft.com/office/drawing/2014/main" id="{BE48E477-FE42-41F3-A3E5-A91F6B6F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2238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rPr>
              <a:t>5,337 kWh</a:t>
            </a:r>
          </a:p>
        </p:txBody>
      </p:sp>
      <p:sp>
        <p:nvSpPr>
          <p:cNvPr id="7" name="ac-energy-label">
            <a:extLst xmlns:a="http://schemas.openxmlformats.org/drawingml/2006/main">
              <a:ext uri="{FF2B5EF4-FFF2-40B4-BE49-F238E27FC236}">
                <a16:creationId xmlns:a16="http://schemas.microsoft.com/office/drawing/2014/main" id="{7D8CFD7C-D9B4-450F-8E43-528B55FF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000625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估計月耗電</a:t>
            </a:r>
          </a:p>
        </p:txBody>
      </p:sp>
      <p:sp>
        <p:nvSpPr>
          <p:cNvPr id="8" name="ac-risk">
            <a:extLst xmlns:a="http://schemas.openxmlformats.org/drawingml/2006/main">
              <a:ext uri="{FF2B5EF4-FFF2-40B4-BE49-F238E27FC236}">
                <a16:creationId xmlns:a16="http://schemas.microsoft.com/office/drawing/2014/main" id="{50C1FFC8-EA94-4393-BBBF-11A14D18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52875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23.0%</a:t>
            </a:r>
          </a:p>
        </p:txBody>
      </p:sp>
      <p:sp>
        <p:nvSpPr>
          <p:cNvPr id="9" name="ac-risk-label">
            <a:extLst xmlns:a="http://schemas.openxmlformats.org/drawingml/2006/main">
              <a:ext uri="{FF2B5EF4-FFF2-40B4-BE49-F238E27FC236}">
                <a16:creationId xmlns:a16="http://schemas.microsoft.com/office/drawing/2014/main" id="{E543327E-821B-4618-878B-02547766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00625"/>
            <a:ext cx="219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530 台平均排序分數</a:t>
            </a:r>
          </a:p>
        </p:txBody>
      </p:sp>
      <p:sp>
        <p:nvSpPr>
          <p:cNvPr id="10" name="demo-data-footer">
            <a:extLst xmlns:a="http://schemas.openxmlformats.org/drawingml/2006/main">
              <a:ext uri="{FF2B5EF4-FFF2-40B4-BE49-F238E27FC236}">
                <a16:creationId xmlns:a16="http://schemas.microsoft.com/office/drawing/2014/main" id="{832E2260-1F0D-48C7-B223-6EDDB626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正式資料｜公開層僅含三館合計或彙整結果；設備級排序不公開</a:t>
            </a:r>
          </a:p>
        </p:txBody>
      </p:sp>
    </p:spTree>
    <p:extLst>
      <p:ext uri="{BB962C8B-B14F-4D97-AF65-F5344CB8AC3E}">
        <p14:creationId xmlns:p14="http://schemas.microsoft.com/office/powerpoint/2010/main" val="15918086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E1456641-6000-4304-B413-347353B4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正式資料成果已整理為摘要、向前驗證與風險彙整</a:t>
            </a:r>
          </a:p>
        </p:txBody>
      </p:sp>
      <p:sp>
        <p:nvSpPr>
          <p:cNvPr id="2" name="slide-9-number">
            <a:extLst xmlns:a="http://schemas.openxmlformats.org/drawingml/2006/main">
              <a:ext uri="{FF2B5EF4-FFF2-40B4-BE49-F238E27FC236}">
                <a16:creationId xmlns:a16="http://schemas.microsoft.com/office/drawing/2014/main" id="{B4329F31-4D9C-4065-80FE-43ED2EB4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3" name="screen-frame-1">
            <a:extLst xmlns:a="http://schemas.openxmlformats.org/drawingml/2006/main">
              <a:ext uri="{FF2B5EF4-FFF2-40B4-BE49-F238E27FC236}">
                <a16:creationId xmlns:a16="http://schemas.microsoft.com/office/drawing/2014/main" id="{75C6ABE9-DF72-43C4-ADA2-54CD740A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381125"/>
            <a:ext cx="373380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a027bd00bb4675"/>
          <a:stretch xmlns:a="http://schemas.openxmlformats.org/drawingml/2006/main"/>
        </p:blipFill>
        <p:spPr>
          <a:xfrm xmlns:a="http://schemas.openxmlformats.org/drawingml/2006/main">
            <a:off x="582872" y="1428750"/>
            <a:ext cx="3272906" cy="2057400"/>
          </a:xfrm>
          <a:prstGeom xmlns:a="http://schemas.openxmlformats.org/drawingml/2006/main" prst="roundRect">
            <a:avLst>
              <a:gd name="adj" fmla="val 2315"/>
            </a:avLst>
          </a:prstGeom>
        </p:spPr>
      </p:pic>
      <p:cxnSp>
        <p:nvCxnSpPr>
          <p:cNvPr id="23" name="screen-rule-1"/>
          <p:cNvCxnSpPr/>
          <p:nvPr/>
        </p:nvCxnSpPr>
        <p:spPr>
          <a:xfrm xmlns:a="http://schemas.openxmlformats.org/drawingml/2006/main">
            <a:off x="400050" y="3810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8BCC4"/>
            </a:solidFill>
            <a:prstDash val="solid"/>
          </a:ln>
        </p:spPr>
      </p:cxnSp>
      <p:sp>
        <p:nvSpPr>
          <p:cNvPr id="6" name="screen-title-1">
            <a:extLst xmlns:a="http://schemas.openxmlformats.org/drawingml/2006/main">
              <a:ext uri="{FF2B5EF4-FFF2-40B4-BE49-F238E27FC236}">
                <a16:creationId xmlns:a16="http://schemas.microsoft.com/office/drawing/2014/main" id="{FAEF380A-D4F3-4A66-9B96-191DD337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19550"/>
            <a:ext cx="3638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研究摘要</a:t>
            </a:r>
          </a:p>
        </p:txBody>
      </p:sp>
      <p:sp>
        <p:nvSpPr>
          <p:cNvPr id="7" name="screen-body-1">
            <a:extLst xmlns:a="http://schemas.openxmlformats.org/drawingml/2006/main">
              <a:ext uri="{FF2B5EF4-FFF2-40B4-BE49-F238E27FC236}">
                <a16:creationId xmlns:a16="http://schemas.microsoft.com/office/drawing/2014/main" id="{594D5FEC-B823-4E26-8AF0-334CD5A9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3638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資料量、模型指標與三館冷氣台數集中在同一頁。</a:t>
            </a:r>
          </a:p>
        </p:txBody>
      </p:sp>
      <p:sp>
        <p:nvSpPr>
          <p:cNvPr id="8" name="screen-frame-2">
            <a:extLst xmlns:a="http://schemas.openxmlformats.org/drawingml/2006/main">
              <a:ext uri="{FF2B5EF4-FFF2-40B4-BE49-F238E27FC236}">
                <a16:creationId xmlns:a16="http://schemas.microsoft.com/office/drawing/2014/main" id="{BBEB075E-3A70-4EEF-A69A-A9C206BC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381125"/>
            <a:ext cx="373380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9FF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2004368a834191"/>
          <a:stretch xmlns:a="http://schemas.openxmlformats.org/drawingml/2006/main"/>
        </p:blipFill>
        <p:spPr>
          <a:xfrm xmlns:a="http://schemas.openxmlformats.org/drawingml/2006/main">
            <a:off x="4854370" y="1428750"/>
            <a:ext cx="2483260" cy="2057400"/>
          </a:xfrm>
          <a:prstGeom xmlns:a="http://schemas.openxmlformats.org/drawingml/2006/main" prst="roundRect">
            <a:avLst>
              <a:gd name="adj" fmla="val 2315"/>
            </a:avLst>
          </a:prstGeom>
        </p:spPr>
      </p:pic>
      <p:cxnSp>
        <p:nvCxnSpPr>
          <p:cNvPr id="28" name="screen-rule-2"/>
          <p:cNvCxnSpPr/>
          <p:nvPr/>
        </p:nvCxnSpPr>
        <p:spPr>
          <a:xfrm xmlns:a="http://schemas.openxmlformats.org/drawingml/2006/main">
            <a:off x="4276725" y="3810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0757A6"/>
            </a:solidFill>
            <a:prstDash val="solid"/>
          </a:ln>
        </p:spPr>
      </p:cxnSp>
      <p:sp>
        <p:nvSpPr>
          <p:cNvPr id="11" name="screen-title-2">
            <a:extLst xmlns:a="http://schemas.openxmlformats.org/drawingml/2006/main">
              <a:ext uri="{FF2B5EF4-FFF2-40B4-BE49-F238E27FC236}">
                <a16:creationId xmlns:a16="http://schemas.microsoft.com/office/drawing/2014/main" id="{E4F37315-5030-47A9-96EE-4FFD7D8D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019550"/>
            <a:ext cx="3638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rPr>
              <a:t>用電向前驗證</a:t>
            </a:r>
          </a:p>
        </p:txBody>
      </p:sp>
      <p:sp>
        <p:nvSpPr>
          <p:cNvPr id="12" name="screen-body-2">
            <a:extLst xmlns:a="http://schemas.openxmlformats.org/drawingml/2006/main">
              <a:ext uri="{FF2B5EF4-FFF2-40B4-BE49-F238E27FC236}">
                <a16:creationId xmlns:a16="http://schemas.microsoft.com/office/drawing/2014/main" id="{5E401807-594F-4B5F-8E50-635EAECD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648200"/>
            <a:ext cx="3638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每次只用過去月份訓練，保留實際與預測誤差。</a:t>
            </a:r>
          </a:p>
        </p:txBody>
      </p:sp>
      <p:sp>
        <p:nvSpPr>
          <p:cNvPr id="13" name="screen-frame-3">
            <a:extLst xmlns:a="http://schemas.openxmlformats.org/drawingml/2006/main">
              <a:ext uri="{FF2B5EF4-FFF2-40B4-BE49-F238E27FC236}">
                <a16:creationId xmlns:a16="http://schemas.microsoft.com/office/drawing/2014/main" id="{CDD70054-9E3B-48DB-A220-671153D0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381125"/>
            <a:ext cx="3733800" cy="21526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6e46f1af504953"/>
          <a:stretch xmlns:a="http://schemas.openxmlformats.org/drawingml/2006/main"/>
        </p:blipFill>
        <p:spPr>
          <a:xfrm xmlns:a="http://schemas.openxmlformats.org/drawingml/2006/main">
            <a:off x="8292969" y="1428750"/>
            <a:ext cx="3359413" cy="2057400"/>
          </a:xfrm>
          <a:prstGeom xmlns:a="http://schemas.openxmlformats.org/drawingml/2006/main" prst="roundRect">
            <a:avLst>
              <a:gd name="adj" fmla="val 2315"/>
            </a:avLst>
          </a:prstGeom>
        </p:spPr>
      </p:pic>
      <p:cxnSp>
        <p:nvCxnSpPr>
          <p:cNvPr id="33" name="screen-rule-3"/>
          <p:cNvCxnSpPr/>
          <p:nvPr/>
        </p:nvCxnSpPr>
        <p:spPr>
          <a:xfrm xmlns:a="http://schemas.openxmlformats.org/drawingml/2006/main">
            <a:off x="8153400" y="38100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B8BCC4"/>
            </a:solidFill>
            <a:prstDash val="solid"/>
          </a:ln>
        </p:spPr>
      </p:cxnSp>
      <p:sp>
        <p:nvSpPr>
          <p:cNvPr id="16" name="screen-title-3">
            <a:extLst xmlns:a="http://schemas.openxmlformats.org/drawingml/2006/main">
              <a:ext uri="{FF2B5EF4-FFF2-40B4-BE49-F238E27FC236}">
                <a16:creationId xmlns:a16="http://schemas.microsoft.com/office/drawing/2014/main" id="{D5A74F39-F104-46E4-9829-534675D1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19550"/>
            <a:ext cx="3638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故障風險摘要</a:t>
            </a:r>
          </a:p>
        </p:txBody>
      </p:sp>
      <p:sp>
        <p:nvSpPr>
          <p:cNvPr id="17" name="screen-body-3">
            <a:extLst xmlns:a="http://schemas.openxmlformats.org/drawingml/2006/main">
              <a:ext uri="{FF2B5EF4-FFF2-40B4-BE49-F238E27FC236}">
                <a16:creationId xmlns:a16="http://schemas.microsoft.com/office/drawing/2014/main" id="{853E7BF3-466B-45C4-9A62-D295E1E8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48200"/>
            <a:ext cx="36385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只公開群組彙整；設備級排序維持本機 private。</a:t>
            </a:r>
          </a:p>
        </p:txBody>
      </p:sp>
      <p:sp>
        <p:nvSpPr>
          <p:cNvPr id="18" name="screen-backup-note">
            <a:extLst xmlns:a="http://schemas.openxmlformats.org/drawingml/2006/main">
              <a:ext uri="{FF2B5EF4-FFF2-40B4-BE49-F238E27FC236}">
                <a16:creationId xmlns:a16="http://schemas.microsoft.com/office/drawing/2014/main" id="{8D624DCE-5DCD-4048-BBDF-B62510DB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去識別彙整成果｜原始名單、房號、財產編號與設備級排序不放入簡報</a:t>
            </a:r>
          </a:p>
        </p:txBody>
      </p:sp>
    </p:spTree>
    <p:extLst>
      <p:ext uri="{BB962C8B-B14F-4D97-AF65-F5344CB8AC3E}">
        <p14:creationId xmlns:p14="http://schemas.microsoft.com/office/powerpoint/2010/main" val="19903225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449168F6-19A3-4901-BEB8-C611BC9B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研究誠信決定這個專題是否可信</a:t>
            </a:r>
          </a:p>
        </p:txBody>
      </p:sp>
      <p:sp>
        <p:nvSpPr>
          <p:cNvPr id="2" name="slide-10-number">
            <a:extLst xmlns:a="http://schemas.openxmlformats.org/drawingml/2006/main">
              <a:ext uri="{FF2B5EF4-FFF2-40B4-BE49-F238E27FC236}">
                <a16:creationId xmlns:a16="http://schemas.microsoft.com/office/drawing/2014/main" id="{CA9DE841-2C93-4092-9ADC-58B31E0D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cxnSp>
        <p:nvCxnSpPr>
          <p:cNvPr id="11" name="integrity-divider"/>
          <p:cNvCxnSpPr/>
          <p:nvPr/>
        </p:nvCxnSpPr>
        <p:spPr>
          <a:xfrm xmlns:a="http://schemas.openxmlformats.org/drawingml/2006/main">
            <a:off x="6096000" y="1666875"/>
            <a:ext cx="0" cy="3905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4" name="integrity-left-title">
            <a:extLst xmlns:a="http://schemas.openxmlformats.org/drawingml/2006/main">
              <a:ext uri="{FF2B5EF4-FFF2-40B4-BE49-F238E27FC236}">
                <a16:creationId xmlns:a16="http://schemas.microsoft.com/office/drawing/2014/main" id="{927EB8CD-46E5-4186-A9D9-26A62FC7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rPr>
              <a:t>目前可以證明</a:t>
            </a:r>
          </a:p>
        </p:txBody>
      </p:sp>
      <p:sp>
        <p:nvSpPr>
          <p:cNvPr id="5" name="integrity-left-bullets">
            <a:extLst xmlns:a="http://schemas.openxmlformats.org/drawingml/2006/main">
              <a:ext uri="{FF2B5EF4-FFF2-40B4-BE49-F238E27FC236}">
                <a16:creationId xmlns:a16="http://schemas.microsoft.com/office/drawing/2014/main" id="{C66F6C80-1701-4BC0-BAD4-601C8D32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05125"/>
            <a:ext cx="5143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4">
              <a:lnSpc>
                <a:spcPct val="116000"/>
              </a:lnSpc>
              <a:buNone/>
              <a:defRPr sz="187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已整併 65 個三館有效月份</a:t>
            </a:r>
          </a:p>
          <a:p xmlns:a="http://schemas.openxmlformats.org/drawingml/2006/main">
            <a:pPr marL="28" indent="-14">
              <a:lnSpc>
                <a:spcPct val="116000"/>
              </a:lnSpc>
              <a:buNone/>
              <a:defRPr sz="187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48 個嚴格月份完成向前驗證</a:t>
            </a:r>
          </a:p>
          <a:p xmlns:a="http://schemas.openxmlformats.org/drawingml/2006/main">
            <a:pPr marL="28" indent="-14">
              <a:lnSpc>
                <a:spcPct val="116000"/>
              </a:lnSpc>
              <a:buNone/>
              <a:defRPr sz="187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530 台現有冷氣與 2,442 筆事件</a:t>
            </a:r>
          </a:p>
          <a:p xmlns:a="http://schemas.openxmlformats.org/drawingml/2006/main">
            <a:pPr marL="28" indent="-14">
              <a:lnSpc>
                <a:spcPct val="116000"/>
              </a:lnSpc>
              <a:buNone/>
              <a:defRPr sz="187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群組風險能支援盤點優先順序</a:t>
            </a:r>
          </a:p>
        </p:txBody>
      </p:sp>
      <p:sp>
        <p:nvSpPr>
          <p:cNvPr id="6" name="integrity-right-title">
            <a:extLst xmlns:a="http://schemas.openxmlformats.org/drawingml/2006/main">
              <a:ext uri="{FF2B5EF4-FFF2-40B4-BE49-F238E27FC236}">
                <a16:creationId xmlns:a16="http://schemas.microsoft.com/office/drawing/2014/main" id="{326B15A7-BA2A-4AF8-A2D6-DDF621AE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050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B42318"/>
                </a:solidFill>
                <a:latin typeface="Microsoft JhengHei"/>
                <a:ea typeface="Microsoft JhengHei"/>
                <a:cs typeface="Microsoft JhengHei"/>
              </a:rPr>
              <a:t>目前不能宣稱</a:t>
            </a:r>
          </a:p>
        </p:txBody>
      </p:sp>
      <p:sp>
        <p:nvSpPr>
          <p:cNvPr id="7" name="integrity-right-bullets">
            <a:extLst xmlns:a="http://schemas.openxmlformats.org/drawingml/2006/main">
              <a:ext uri="{FF2B5EF4-FFF2-40B4-BE49-F238E27FC236}">
                <a16:creationId xmlns:a16="http://schemas.microsoft.com/office/drawing/2014/main" id="{20900859-E468-4389-9754-9D08CE3D5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05125"/>
            <a:ext cx="5143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8" indent="-14">
              <a:lnSpc>
                <a:spcPct val="116000"/>
              </a:lnSpc>
              <a:buNone/>
              <a:defRPr sz="187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能精準預測每一個未來月份</a:t>
            </a:r>
          </a:p>
          <a:p xmlns:a="http://schemas.openxmlformats.org/drawingml/2006/main">
            <a:pPr marL="28" indent="-14">
              <a:lnSpc>
                <a:spcPct val="116000"/>
              </a:lnSpc>
              <a:buNone/>
              <a:defRPr sz="187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排序分數就是設備真實故障率</a:t>
            </a:r>
          </a:p>
          <a:p xmlns:a="http://schemas.openxmlformats.org/drawingml/2006/main">
            <a:pPr marL="28" indent="-14">
              <a:lnSpc>
                <a:spcPct val="116000"/>
              </a:lnSpc>
              <a:buNone/>
              <a:defRPr sz="187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分時耗電估算等於分表實測</a:t>
            </a:r>
          </a:p>
          <a:p xmlns:a="http://schemas.openxmlformats.org/drawingml/2006/main">
            <a:pPr marL="28" indent="-14">
              <a:lnSpc>
                <a:spcPct val="116000"/>
              </a:lnSpc>
              <a:buNone/>
              <a:defRPr sz="187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三館合計人數能解釋單館差異</a:t>
            </a:r>
          </a:p>
        </p:txBody>
      </p:sp>
      <p:sp>
        <p:nvSpPr>
          <p:cNvPr id="8" name="integrity-bottom">
            <a:extLst xmlns:a="http://schemas.openxmlformats.org/drawingml/2006/main">
              <a:ext uri="{FF2B5EF4-FFF2-40B4-BE49-F238E27FC236}">
                <a16:creationId xmlns:a16="http://schemas.microsoft.com/office/drawing/2014/main" id="{9491C839-E801-43CF-B37A-F2E114F1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設備級排序只留本機；維護前仍須由宿舍與機電人員現場檢查。</a:t>
            </a:r>
          </a:p>
        </p:txBody>
      </p:sp>
    </p:spTree>
    <p:extLst>
      <p:ext uri="{BB962C8B-B14F-4D97-AF65-F5344CB8AC3E}">
        <p14:creationId xmlns:p14="http://schemas.microsoft.com/office/powerpoint/2010/main" val="3444698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9100D2AC-9125-4B19-98C6-30F59C9D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正式資料版完成後，下一步是持續更新與現場驗證</a:t>
            </a:r>
          </a:p>
        </p:txBody>
      </p:sp>
      <p:sp>
        <p:nvSpPr>
          <p:cNvPr id="2" name="slide-11-number">
            <a:extLst xmlns:a="http://schemas.openxmlformats.org/drawingml/2006/main">
              <a:ext uri="{FF2B5EF4-FFF2-40B4-BE49-F238E27FC236}">
                <a16:creationId xmlns:a16="http://schemas.microsoft.com/office/drawing/2014/main" id="{86ABB369-09BF-4FCB-922C-BE0ED93F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cxnSp>
        <p:nvCxnSpPr>
          <p:cNvPr id="18" name="roadmap-line"/>
          <p:cNvCxnSpPr/>
          <p:nvPr/>
        </p:nvCxnSpPr>
        <p:spPr>
          <a:xfrm xmlns:a="http://schemas.openxmlformats.org/drawingml/2006/main">
            <a:off x="400050" y="33337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4" name="roadmap-dot-1">
            <a:extLst xmlns:a="http://schemas.openxmlformats.org/drawingml/2006/main">
              <a:ext uri="{FF2B5EF4-FFF2-40B4-BE49-F238E27FC236}">
                <a16:creationId xmlns:a16="http://schemas.microsoft.com/office/drawing/2014/main" id="{D5911FBF-5572-4334-91C1-1D21EE4A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oadmap-label-1">
            <a:extLst xmlns:a="http://schemas.openxmlformats.org/drawingml/2006/main">
              <a:ext uri="{FF2B5EF4-FFF2-40B4-BE49-F238E27FC236}">
                <a16:creationId xmlns:a16="http://schemas.microsoft.com/office/drawing/2014/main" id="{2C14D154-0321-4FD3-A3F3-D11504EC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每月</a:t>
            </a:r>
          </a:p>
        </p:txBody>
      </p:sp>
      <p:sp>
        <p:nvSpPr>
          <p:cNvPr id="6" name="roadmap-title-1">
            <a:extLst xmlns:a="http://schemas.openxmlformats.org/drawingml/2006/main">
              <a:ext uri="{FF2B5EF4-FFF2-40B4-BE49-F238E27FC236}">
                <a16:creationId xmlns:a16="http://schemas.microsoft.com/office/drawing/2014/main" id="{5D4DC247-BFE1-47D5-A57E-C4A720BF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固定資料更新</a:t>
            </a:r>
          </a:p>
        </p:txBody>
      </p:sp>
      <p:sp>
        <p:nvSpPr>
          <p:cNvPr id="7" name="roadmap-body-1">
            <a:extLst xmlns:a="http://schemas.openxmlformats.org/drawingml/2006/main">
              <a:ext uri="{FF2B5EF4-FFF2-40B4-BE49-F238E27FC236}">
                <a16:creationId xmlns:a16="http://schemas.microsoft.com/office/drawing/2014/main" id="{3438A9FE-EEB7-44E0-8B69-87D59F5B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314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加入新月份用電、住宿與氣溫，保留版本及向前驗證。</a:t>
            </a:r>
          </a:p>
        </p:txBody>
      </p:sp>
      <p:sp>
        <p:nvSpPr>
          <p:cNvPr id="8" name="roadmap-dot-2">
            <a:extLst xmlns:a="http://schemas.openxmlformats.org/drawingml/2006/main">
              <a:ext uri="{FF2B5EF4-FFF2-40B4-BE49-F238E27FC236}">
                <a16:creationId xmlns:a16="http://schemas.microsoft.com/office/drawing/2014/main" id="{63715915-205E-464E-A762-CBEA544D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5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oadmap-label-2">
            <a:extLst xmlns:a="http://schemas.openxmlformats.org/drawingml/2006/main">
              <a:ext uri="{FF2B5EF4-FFF2-40B4-BE49-F238E27FC236}">
                <a16:creationId xmlns:a16="http://schemas.microsoft.com/office/drawing/2014/main" id="{DD6ECF45-FB61-497B-92CA-4FA5A6DE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622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rPr>
              <a:t>每學期</a:t>
            </a:r>
          </a:p>
        </p:txBody>
      </p:sp>
      <p:sp>
        <p:nvSpPr>
          <p:cNvPr id="10" name="roadmap-title-2">
            <a:extLst xmlns:a="http://schemas.openxmlformats.org/drawingml/2006/main">
              <a:ext uri="{FF2B5EF4-FFF2-40B4-BE49-F238E27FC236}">
                <a16:creationId xmlns:a16="http://schemas.microsoft.com/office/drawing/2014/main" id="{E5AAB2BA-B28A-4EB8-9F7D-E2401064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8576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抽查高風險設備</a:t>
            </a:r>
          </a:p>
        </p:txBody>
      </p:sp>
      <p:sp>
        <p:nvSpPr>
          <p:cNvPr id="11" name="roadmap-body-2">
            <a:extLst xmlns:a="http://schemas.openxmlformats.org/drawingml/2006/main">
              <a:ext uri="{FF2B5EF4-FFF2-40B4-BE49-F238E27FC236}">
                <a16:creationId xmlns:a16="http://schemas.microsoft.com/office/drawing/2014/main" id="{431AECBE-DADA-4937-A355-1F93C939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714875"/>
            <a:ext cx="314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由機電人員檢查高排序群組，記錄誤報、漏報與維修結果。</a:t>
            </a:r>
          </a:p>
        </p:txBody>
      </p:sp>
      <p:sp>
        <p:nvSpPr>
          <p:cNvPr id="12" name="roadmap-dot-3">
            <a:extLst xmlns:a="http://schemas.openxmlformats.org/drawingml/2006/main">
              <a:ext uri="{FF2B5EF4-FFF2-40B4-BE49-F238E27FC236}">
                <a16:creationId xmlns:a16="http://schemas.microsoft.com/office/drawing/2014/main" id="{7B134D11-F58E-45A0-A2A4-E1508EDA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57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oadmap-label-3">
            <a:extLst xmlns:a="http://schemas.openxmlformats.org/drawingml/2006/main">
              <a:ext uri="{FF2B5EF4-FFF2-40B4-BE49-F238E27FC236}">
                <a16:creationId xmlns:a16="http://schemas.microsoft.com/office/drawing/2014/main" id="{0AE0743C-526E-478E-8356-8F52406F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622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下一階段</a:t>
            </a:r>
          </a:p>
        </p:txBody>
      </p:sp>
      <p:sp>
        <p:nvSpPr>
          <p:cNvPr id="14" name="roadmap-title-3">
            <a:extLst xmlns:a="http://schemas.openxmlformats.org/drawingml/2006/main">
              <a:ext uri="{FF2B5EF4-FFF2-40B4-BE49-F238E27FC236}">
                <a16:creationId xmlns:a16="http://schemas.microsoft.com/office/drawing/2014/main" id="{C05E8F3F-03B3-4177-8788-5E0A1BB7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5762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增加分表與歷史主檔</a:t>
            </a:r>
          </a:p>
        </p:txBody>
      </p:sp>
      <p:sp>
        <p:nvSpPr>
          <p:cNvPr id="15" name="roadmap-body-3">
            <a:extLst xmlns:a="http://schemas.openxmlformats.org/drawingml/2006/main">
              <a:ext uri="{FF2B5EF4-FFF2-40B4-BE49-F238E27FC236}">
                <a16:creationId xmlns:a16="http://schemas.microsoft.com/office/drawing/2014/main" id="{9FB0825D-BEE4-485C-A6CC-25FE2A92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14875"/>
            <a:ext cx="314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補齊汰換設備、閉館日、逐館人數及冷氣／熱水分表。</a:t>
            </a:r>
          </a:p>
        </p:txBody>
      </p:sp>
    </p:spTree>
    <p:extLst>
      <p:ext uri="{BB962C8B-B14F-4D97-AF65-F5344CB8AC3E}">
        <p14:creationId xmlns:p14="http://schemas.microsoft.com/office/powerpoint/2010/main" val="19346555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nclusion-eyebrow">
            <a:extLst xmlns:a="http://schemas.openxmlformats.org/drawingml/2006/main">
              <a:ext uri="{FF2B5EF4-FFF2-40B4-BE49-F238E27FC236}">
                <a16:creationId xmlns:a16="http://schemas.microsoft.com/office/drawing/2014/main" id="{79B2CD3A-3BC2-4781-8C65-17D20782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28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757A6"/>
                </a:solidFill>
                <a:latin typeface="Microsoft JhengHei"/>
                <a:ea typeface="Microsoft JhengHei"/>
                <a:cs typeface="Microsoft JhengHei"/>
              </a:rPr>
              <a:t>結論</a:t>
            </a:r>
          </a:p>
        </p:txBody>
      </p:sp>
      <p:sp>
        <p:nvSpPr>
          <p:cNvPr id="2" name="conclusion-message">
            <a:extLst xmlns:a="http://schemas.openxmlformats.org/drawingml/2006/main">
              <a:ext uri="{FF2B5EF4-FFF2-40B4-BE49-F238E27FC236}">
                <a16:creationId xmlns:a16="http://schemas.microsoft.com/office/drawing/2014/main" id="{C2F43071-8AB2-4E85-AC12-F9594EA7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049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51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讓宿舍用電從「看總量」進入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51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「可解釋、可驗證、可行動」</a:t>
            </a:r>
          </a:p>
        </p:txBody>
      </p:sp>
      <p:sp>
        <p:nvSpPr>
          <p:cNvPr id="3" name="conclusion-points">
            <a:extLst xmlns:a="http://schemas.openxmlformats.org/drawingml/2006/main">
              <a:ext uri="{FF2B5EF4-FFF2-40B4-BE49-F238E27FC236}">
                <a16:creationId xmlns:a16="http://schemas.microsoft.com/office/drawing/2014/main" id="{12446451-7E17-4934-BB86-11117C27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885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跨年度資料整合｜樣本外模型驗證｜冷氣設備清冊排名</a:t>
            </a:r>
          </a:p>
        </p:txBody>
      </p:sp>
      <p:sp>
        <p:nvSpPr>
          <p:cNvPr id="4" name="conclusion-qa">
            <a:extLst xmlns:a="http://schemas.openxmlformats.org/drawingml/2006/main">
              <a:ext uri="{FF2B5EF4-FFF2-40B4-BE49-F238E27FC236}">
                <a16:creationId xmlns:a16="http://schemas.microsoft.com/office/drawing/2014/main" id="{0A32CB15-6C6F-4EB2-94FE-75293FA6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5787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>
                <a:solidFill>
                  <a:srgbClr val="596273"/>
                </a:solidFill>
                <a:latin typeface="Microsoft JhengHei"/>
                <a:ea typeface="Microsoft JhengHei"/>
                <a:cs typeface="Microsoft JhengHei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9750868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2026-08-16T06:13:09.1060000Z</dcterms:created>
  <dcterms:modified xsi:type="dcterms:W3CDTF">2026-08-16T06:13:09.1060000Z</dcterms:modified>
</coreProperties>
</file>